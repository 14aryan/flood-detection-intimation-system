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1282732-8A78-4639-991E-F2C1EF63912C}">
  <a:tblStyle styleId="{E1282732-8A78-4639-991E-F2C1EF63912C}"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4E8E8"/>
          </a:solidFill>
        </a:fill>
      </a:tcStyle>
    </a:wholeTbl>
    <a:band1H>
      <a:tcTxStyle/>
      <a:tcStyle>
        <a:fill>
          <a:solidFill>
            <a:srgbClr val="E8CFCF"/>
          </a:solidFill>
        </a:fill>
      </a:tcStyle>
    </a:band1H>
    <a:band2H>
      <a:tcTxStyle/>
    </a:band2H>
    <a:band1V>
      <a:tcTxStyle/>
      <a:tcStyle>
        <a:fill>
          <a:solidFill>
            <a:srgbClr val="E8CFCF"/>
          </a:solidFill>
        </a:fill>
      </a:tcStyle>
    </a:band1V>
    <a:band2V>
      <a:tcTxStyle/>
    </a:band2V>
    <a:lastCol>
      <a:tcTxStyle b="on" i="off">
        <a:font>
          <a:latin typeface="Calibri"/>
          <a:ea typeface="Calibri"/>
          <a:cs typeface="Calibri"/>
        </a:font>
        <a:schemeClr val="lt1"/>
      </a:tcTxStyle>
      <a:tcStyle>
        <a:fill>
          <a:solidFill>
            <a:schemeClr val="accent2"/>
          </a:solidFill>
        </a:fill>
      </a:tcStyle>
    </a:lastCol>
    <a:firstCol>
      <a:tcTxStyle b="on" i="off">
        <a:font>
          <a:latin typeface="Calibri"/>
          <a:ea typeface="Calibri"/>
          <a:cs typeface="Calibri"/>
        </a:font>
        <a:schemeClr val="lt1"/>
      </a:tcTxStyle>
      <a:tcStyle>
        <a:fill>
          <a:solidFill>
            <a:schemeClr val="accent2"/>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2"/>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2"/>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2"/>
          <p:cNvSpPr txBox="1"/>
          <p:nvPr>
            <p:ph type="title"/>
          </p:nvPr>
        </p:nvSpPr>
        <p:spPr>
          <a:xfrm>
            <a:off x="1107744" y="1447038"/>
            <a:ext cx="9976510" cy="51371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200">
                <a:solidFill>
                  <a:srgbClr val="FF0000"/>
                </a:solidFill>
                <a:latin typeface="Georgia"/>
                <a:ea typeface="Georgia"/>
                <a:cs typeface="Georgia"/>
                <a:sym typeface="Georg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1107744" y="2161869"/>
            <a:ext cx="9976510" cy="249999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 name="Google Shape;15;p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IN"/>
              <a:t>‹#›</a:t>
            </a:fld>
            <a:endParaRPr sz="1800">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chemeClr val="lt1"/>
        </a:solidFill>
      </p:bgPr>
    </p:bg>
    <p:spTree>
      <p:nvGrpSpPr>
        <p:cNvPr id="18" name="Shape 18"/>
        <p:cNvGrpSpPr/>
        <p:nvPr/>
      </p:nvGrpSpPr>
      <p:grpSpPr>
        <a:xfrm>
          <a:off x="0" y="0"/>
          <a:ext cx="0" cy="0"/>
          <a:chOff x="0" y="0"/>
          <a:chExt cx="0" cy="0"/>
        </a:xfrm>
      </p:grpSpPr>
      <p:sp>
        <p:nvSpPr>
          <p:cNvPr id="19" name="Google Shape;19;p3"/>
          <p:cNvSpPr/>
          <p:nvPr/>
        </p:nvSpPr>
        <p:spPr>
          <a:xfrm>
            <a:off x="723900" y="723900"/>
            <a:ext cx="4581525" cy="5494020"/>
          </a:xfrm>
          <a:custGeom>
            <a:rect b="b" l="l" r="r" t="t"/>
            <a:pathLst>
              <a:path extrusionOk="0" h="5494020" w="4581525">
                <a:moveTo>
                  <a:pt x="4581144" y="0"/>
                </a:moveTo>
                <a:lnTo>
                  <a:pt x="0" y="0"/>
                </a:lnTo>
                <a:lnTo>
                  <a:pt x="0" y="5494020"/>
                </a:lnTo>
                <a:lnTo>
                  <a:pt x="2282444" y="4717923"/>
                </a:lnTo>
                <a:lnTo>
                  <a:pt x="4581144" y="5494020"/>
                </a:lnTo>
                <a:lnTo>
                  <a:pt x="4581144" y="0"/>
                </a:lnTo>
                <a:close/>
              </a:path>
            </a:pathLst>
          </a:custGeom>
          <a:solidFill>
            <a:srgbClr val="E8E3E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3"/>
          <p:cNvSpPr txBox="1"/>
          <p:nvPr>
            <p:ph type="ctrTitle"/>
          </p:nvPr>
        </p:nvSpPr>
        <p:spPr>
          <a:xfrm>
            <a:off x="1621282" y="1674063"/>
            <a:ext cx="8949435"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IN"/>
              <a:t>‹#›</a:t>
            </a:fld>
            <a:endParaRPr sz="1800">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5" name="Shape 25"/>
        <p:cNvGrpSpPr/>
        <p:nvPr/>
      </p:nvGrpSpPr>
      <p:grpSpPr>
        <a:xfrm>
          <a:off x="0" y="0"/>
          <a:ext cx="0" cy="0"/>
          <a:chOff x="0" y="0"/>
          <a:chExt cx="0" cy="0"/>
        </a:xfrm>
      </p:grpSpPr>
      <p:sp>
        <p:nvSpPr>
          <p:cNvPr id="26" name="Google Shape;26;p4"/>
          <p:cNvSpPr txBox="1"/>
          <p:nvPr>
            <p:ph type="title"/>
          </p:nvPr>
        </p:nvSpPr>
        <p:spPr>
          <a:xfrm>
            <a:off x="1107744" y="1447038"/>
            <a:ext cx="9976510" cy="51371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200">
                <a:solidFill>
                  <a:srgbClr val="FF0000"/>
                </a:solidFill>
                <a:latin typeface="Georgia"/>
                <a:ea typeface="Georgia"/>
                <a:cs typeface="Georgia"/>
                <a:sym typeface="Georg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IN"/>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0" name="Shape 30"/>
        <p:cNvGrpSpPr/>
        <p:nvPr/>
      </p:nvGrpSpPr>
      <p:grpSpPr>
        <a:xfrm>
          <a:off x="0" y="0"/>
          <a:ext cx="0" cy="0"/>
          <a:chOff x="0" y="0"/>
          <a:chExt cx="0" cy="0"/>
        </a:xfrm>
      </p:grpSpPr>
      <p:sp>
        <p:nvSpPr>
          <p:cNvPr id="31" name="Google Shape;31;p5"/>
          <p:cNvSpPr txBox="1"/>
          <p:nvPr>
            <p:ph type="title"/>
          </p:nvPr>
        </p:nvSpPr>
        <p:spPr>
          <a:xfrm>
            <a:off x="1107744" y="1447038"/>
            <a:ext cx="9976510" cy="51371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200">
                <a:solidFill>
                  <a:srgbClr val="FF0000"/>
                </a:solidFill>
                <a:latin typeface="Georgia"/>
                <a:ea typeface="Georgia"/>
                <a:cs typeface="Georgia"/>
                <a:sym typeface="Georg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5"/>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 name="Google Shape;33;p5"/>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IN"/>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7" name="Shape 37"/>
        <p:cNvGrpSpPr/>
        <p:nvPr/>
      </p:nvGrpSpPr>
      <p:grpSpPr>
        <a:xfrm>
          <a:off x="0" y="0"/>
          <a:ext cx="0" cy="0"/>
          <a:chOff x="0" y="0"/>
          <a:chExt cx="0" cy="0"/>
        </a:xfrm>
      </p:grpSpPr>
      <p:sp>
        <p:nvSpPr>
          <p:cNvPr id="38" name="Google Shape;38;p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IN"/>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0"/>
            <a:ext cx="12192000" cy="6858000"/>
          </a:xfrm>
          <a:custGeom>
            <a:rect b="b" l="l" r="r" t="t"/>
            <a:pathLst>
              <a:path extrusionOk="0" h="6858000" w="12192000">
                <a:moveTo>
                  <a:pt x="12192000" y="157607"/>
                </a:moveTo>
                <a:lnTo>
                  <a:pt x="12031091" y="157607"/>
                </a:lnTo>
                <a:lnTo>
                  <a:pt x="12031091" y="6700393"/>
                </a:lnTo>
                <a:lnTo>
                  <a:pt x="12192000" y="6700393"/>
                </a:lnTo>
                <a:lnTo>
                  <a:pt x="12192000" y="157607"/>
                </a:lnTo>
                <a:close/>
              </a:path>
              <a:path extrusionOk="0" h="6858000" w="12192000">
                <a:moveTo>
                  <a:pt x="12192000" y="0"/>
                </a:moveTo>
                <a:lnTo>
                  <a:pt x="0" y="0"/>
                </a:lnTo>
                <a:lnTo>
                  <a:pt x="0" y="157480"/>
                </a:lnTo>
                <a:lnTo>
                  <a:pt x="0" y="6700520"/>
                </a:lnTo>
                <a:lnTo>
                  <a:pt x="0" y="6858000"/>
                </a:lnTo>
                <a:lnTo>
                  <a:pt x="12192000" y="6858000"/>
                </a:lnTo>
                <a:lnTo>
                  <a:pt x="12192000" y="6700520"/>
                </a:lnTo>
                <a:lnTo>
                  <a:pt x="160921" y="6700520"/>
                </a:lnTo>
                <a:lnTo>
                  <a:pt x="160921" y="157480"/>
                </a:lnTo>
                <a:lnTo>
                  <a:pt x="12192000" y="157480"/>
                </a:lnTo>
                <a:lnTo>
                  <a:pt x="12192000" y="0"/>
                </a:lnTo>
                <a:close/>
              </a:path>
            </a:pathLst>
          </a:custGeom>
          <a:solidFill>
            <a:srgbClr val="E8E3E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 name="Google Shape;7;p1"/>
          <p:cNvSpPr txBox="1"/>
          <p:nvPr>
            <p:ph type="title"/>
          </p:nvPr>
        </p:nvSpPr>
        <p:spPr>
          <a:xfrm>
            <a:off x="1107744" y="1447038"/>
            <a:ext cx="9976510" cy="513714"/>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3200" u="none" cap="none" strike="noStrike">
                <a:solidFill>
                  <a:srgbClr val="FF0000"/>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
          <p:cNvSpPr txBox="1"/>
          <p:nvPr>
            <p:ph idx="1" type="body"/>
          </p:nvPr>
        </p:nvSpPr>
        <p:spPr>
          <a:xfrm>
            <a:off x="1107744" y="2161869"/>
            <a:ext cx="9976510" cy="249999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sz="1800">
                <a:solidFill>
                  <a:srgbClr val="888888"/>
                </a:solidFill>
                <a:latin typeface="Calibri"/>
                <a:ea typeface="Calibri"/>
                <a:cs typeface="Calibri"/>
                <a:sym typeface="Calibri"/>
              </a:defRPr>
            </a:lvl1pPr>
            <a:lvl2pPr indent="0" lvl="1" marL="0" marR="0" rtl="0" algn="r">
              <a:spcBef>
                <a:spcPts val="0"/>
              </a:spcBef>
              <a:buNone/>
              <a:defRPr sz="1800">
                <a:solidFill>
                  <a:srgbClr val="888888"/>
                </a:solidFill>
                <a:latin typeface="Calibri"/>
                <a:ea typeface="Calibri"/>
                <a:cs typeface="Calibri"/>
                <a:sym typeface="Calibri"/>
              </a:defRPr>
            </a:lvl2pPr>
            <a:lvl3pPr indent="0" lvl="2" marL="0" marR="0" rtl="0" algn="r">
              <a:spcBef>
                <a:spcPts val="0"/>
              </a:spcBef>
              <a:buNone/>
              <a:defRPr sz="1800">
                <a:solidFill>
                  <a:srgbClr val="888888"/>
                </a:solidFill>
                <a:latin typeface="Calibri"/>
                <a:ea typeface="Calibri"/>
                <a:cs typeface="Calibri"/>
                <a:sym typeface="Calibri"/>
              </a:defRPr>
            </a:lvl3pPr>
            <a:lvl4pPr indent="0" lvl="3" marL="0" marR="0" rtl="0" algn="r">
              <a:spcBef>
                <a:spcPts val="0"/>
              </a:spcBef>
              <a:buNone/>
              <a:defRPr sz="1800">
                <a:solidFill>
                  <a:srgbClr val="888888"/>
                </a:solidFill>
                <a:latin typeface="Calibri"/>
                <a:ea typeface="Calibri"/>
                <a:cs typeface="Calibri"/>
                <a:sym typeface="Calibri"/>
              </a:defRPr>
            </a:lvl4pPr>
            <a:lvl5pPr indent="0" lvl="4" marL="0" marR="0" rtl="0" algn="r">
              <a:spcBef>
                <a:spcPts val="0"/>
              </a:spcBef>
              <a:buNone/>
              <a:defRPr sz="1800">
                <a:solidFill>
                  <a:srgbClr val="888888"/>
                </a:solidFill>
                <a:latin typeface="Calibri"/>
                <a:ea typeface="Calibri"/>
                <a:cs typeface="Calibri"/>
                <a:sym typeface="Calibri"/>
              </a:defRPr>
            </a:lvl5pPr>
            <a:lvl6pPr indent="0" lvl="5" marL="0" marR="0" rtl="0" algn="r">
              <a:spcBef>
                <a:spcPts val="0"/>
              </a:spcBef>
              <a:buNone/>
              <a:defRPr sz="1800">
                <a:solidFill>
                  <a:srgbClr val="888888"/>
                </a:solidFill>
                <a:latin typeface="Calibri"/>
                <a:ea typeface="Calibri"/>
                <a:cs typeface="Calibri"/>
                <a:sym typeface="Calibri"/>
              </a:defRPr>
            </a:lvl6pPr>
            <a:lvl7pPr indent="0" lvl="6" marL="0" marR="0" rtl="0" algn="r">
              <a:spcBef>
                <a:spcPts val="0"/>
              </a:spcBef>
              <a:buNone/>
              <a:defRPr sz="1800">
                <a:solidFill>
                  <a:srgbClr val="888888"/>
                </a:solidFill>
                <a:latin typeface="Calibri"/>
                <a:ea typeface="Calibri"/>
                <a:cs typeface="Calibri"/>
                <a:sym typeface="Calibri"/>
              </a:defRPr>
            </a:lvl7pPr>
            <a:lvl8pPr indent="0" lvl="7" marL="0" marR="0" rtl="0" algn="r">
              <a:spcBef>
                <a:spcPts val="0"/>
              </a:spcBef>
              <a:buNone/>
              <a:defRPr sz="1800">
                <a:solidFill>
                  <a:srgbClr val="888888"/>
                </a:solidFill>
                <a:latin typeface="Calibri"/>
                <a:ea typeface="Calibri"/>
                <a:cs typeface="Calibri"/>
                <a:sym typeface="Calibri"/>
              </a:defRPr>
            </a:lvl8pPr>
            <a:lvl9pPr indent="0" lvl="8" marL="0" marR="0" rt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b="0" u="non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 name="Shape 44"/>
        <p:cNvGrpSpPr/>
        <p:nvPr/>
      </p:nvGrpSpPr>
      <p:grpSpPr>
        <a:xfrm>
          <a:off x="0" y="0"/>
          <a:ext cx="0" cy="0"/>
          <a:chOff x="0" y="0"/>
          <a:chExt cx="0" cy="0"/>
        </a:xfrm>
      </p:grpSpPr>
      <p:sp>
        <p:nvSpPr>
          <p:cNvPr id="45" name="Google Shape;45;p7"/>
          <p:cNvSpPr/>
          <p:nvPr/>
        </p:nvSpPr>
        <p:spPr>
          <a:xfrm>
            <a:off x="6096000" y="158495"/>
            <a:ext cx="5939155" cy="6544309"/>
          </a:xfrm>
          <a:custGeom>
            <a:rect b="b" l="l" r="r" t="t"/>
            <a:pathLst>
              <a:path extrusionOk="0" h="6544309" w="5939155">
                <a:moveTo>
                  <a:pt x="5939028" y="0"/>
                </a:moveTo>
                <a:lnTo>
                  <a:pt x="0" y="0"/>
                </a:lnTo>
                <a:lnTo>
                  <a:pt x="0" y="6544056"/>
                </a:lnTo>
                <a:lnTo>
                  <a:pt x="5939028" y="6544056"/>
                </a:lnTo>
                <a:lnTo>
                  <a:pt x="5939028" y="0"/>
                </a:lnTo>
                <a:close/>
              </a:path>
            </a:pathLst>
          </a:custGeom>
          <a:solidFill>
            <a:srgbClr val="E8E3E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7"/>
          <p:cNvSpPr txBox="1"/>
          <p:nvPr>
            <p:ph type="title"/>
          </p:nvPr>
        </p:nvSpPr>
        <p:spPr>
          <a:xfrm>
            <a:off x="6948931" y="1307744"/>
            <a:ext cx="4180204" cy="1433830"/>
          </a:xfrm>
          <a:prstGeom prst="rect">
            <a:avLst/>
          </a:prstGeom>
          <a:noFill/>
          <a:ln>
            <a:noFill/>
          </a:ln>
        </p:spPr>
        <p:txBody>
          <a:bodyPr anchorCtr="0" anchor="t" bIns="0" lIns="0" spcFirstLastPara="1" rIns="0" wrap="square" tIns="12700">
            <a:spAutoFit/>
          </a:bodyPr>
          <a:lstStyle/>
          <a:p>
            <a:pPr indent="0" lvl="0" marL="12065" marR="5080" rtl="0" algn="ctr">
              <a:lnSpc>
                <a:spcPct val="110000"/>
              </a:lnSpc>
              <a:spcBef>
                <a:spcPts val="0"/>
              </a:spcBef>
              <a:spcAft>
                <a:spcPts val="0"/>
              </a:spcAft>
              <a:buNone/>
            </a:pPr>
            <a:r>
              <a:rPr lang="en-IN" sz="2800">
                <a:solidFill>
                  <a:srgbClr val="233641"/>
                </a:solidFill>
              </a:rPr>
              <a:t>F L OOD	D E T E CT I O N  A N D</a:t>
            </a:r>
            <a:endParaRPr sz="2800"/>
          </a:p>
          <a:p>
            <a:pPr indent="0" lvl="0" marL="2540" rtl="0" algn="ctr">
              <a:lnSpc>
                <a:spcPct val="100000"/>
              </a:lnSpc>
              <a:spcBef>
                <a:spcPts val="335"/>
              </a:spcBef>
              <a:spcAft>
                <a:spcPts val="0"/>
              </a:spcAft>
              <a:buNone/>
            </a:pPr>
            <a:r>
              <a:rPr lang="en-IN" sz="2800">
                <a:solidFill>
                  <a:srgbClr val="233641"/>
                </a:solidFill>
              </a:rPr>
              <a:t>I N T I M AT I O N</a:t>
            </a:r>
            <a:endParaRPr sz="2800"/>
          </a:p>
        </p:txBody>
      </p:sp>
      <p:sp>
        <p:nvSpPr>
          <p:cNvPr id="47" name="Google Shape;47;p7"/>
          <p:cNvSpPr txBox="1"/>
          <p:nvPr/>
        </p:nvSpPr>
        <p:spPr>
          <a:xfrm>
            <a:off x="7314438" y="4534636"/>
            <a:ext cx="3503929" cy="1630680"/>
          </a:xfrm>
          <a:prstGeom prst="rect">
            <a:avLst/>
          </a:prstGeom>
          <a:noFill/>
          <a:ln>
            <a:noFill/>
          </a:ln>
        </p:spPr>
        <p:txBody>
          <a:bodyPr anchorCtr="0" anchor="t" bIns="0" lIns="0" spcFirstLastPara="1" rIns="0" wrap="square" tIns="12700">
            <a:spAutoFit/>
          </a:bodyPr>
          <a:lstStyle/>
          <a:p>
            <a:pPr indent="554990" lvl="0" marL="177165" marR="168910" rtl="0" algn="l">
              <a:lnSpc>
                <a:spcPct val="131500"/>
              </a:lnSpc>
              <a:spcBef>
                <a:spcPts val="0"/>
              </a:spcBef>
              <a:spcAft>
                <a:spcPts val="0"/>
              </a:spcAft>
              <a:buNone/>
            </a:pPr>
            <a:r>
              <a:rPr lang="en-IN" sz="2000">
                <a:solidFill>
                  <a:srgbClr val="233641"/>
                </a:solidFill>
                <a:latin typeface="Georgia"/>
                <a:ea typeface="Georgia"/>
                <a:cs typeface="Georgia"/>
                <a:sym typeface="Georgia"/>
              </a:rPr>
              <a:t>SUBMITTED BY :  ISHAAN REJRA 20BCE2847  SOMYA RATHI 20BCE2323</a:t>
            </a:r>
            <a:endParaRPr sz="2000">
              <a:solidFill>
                <a:schemeClr val="dk1"/>
              </a:solidFill>
              <a:latin typeface="Georgia"/>
              <a:ea typeface="Georgia"/>
              <a:cs typeface="Georgia"/>
              <a:sym typeface="Georgia"/>
            </a:endParaRPr>
          </a:p>
          <a:p>
            <a:pPr indent="0" lvl="0" marL="12700" marR="0" rtl="0" algn="l">
              <a:lnSpc>
                <a:spcPct val="100000"/>
              </a:lnSpc>
              <a:spcBef>
                <a:spcPts val="770"/>
              </a:spcBef>
              <a:spcAft>
                <a:spcPts val="0"/>
              </a:spcAft>
              <a:buNone/>
            </a:pPr>
            <a:r>
              <a:rPr lang="en-IN" sz="2000">
                <a:solidFill>
                  <a:srgbClr val="233641"/>
                </a:solidFill>
                <a:latin typeface="Georgia"/>
                <a:ea typeface="Georgia"/>
                <a:cs typeface="Georgia"/>
                <a:sym typeface="Georgia"/>
              </a:rPr>
              <a:t>ARYAN AGRAWAL 20BCE2876</a:t>
            </a:r>
            <a:endParaRPr sz="2000">
              <a:solidFill>
                <a:schemeClr val="dk1"/>
              </a:solidFill>
              <a:latin typeface="Georgia"/>
              <a:ea typeface="Georgia"/>
              <a:cs typeface="Georgia"/>
              <a:sym typeface="Georgia"/>
            </a:endParaRPr>
          </a:p>
        </p:txBody>
      </p:sp>
      <p:pic>
        <p:nvPicPr>
          <p:cNvPr id="48" name="Google Shape;48;p7"/>
          <p:cNvPicPr preferRelativeResize="0"/>
          <p:nvPr/>
        </p:nvPicPr>
        <p:blipFill rotWithShape="1">
          <a:blip r:embed="rId3">
            <a:alphaModFix/>
          </a:blip>
          <a:srcRect b="0" l="0" r="0" t="0"/>
          <a:stretch/>
        </p:blipFill>
        <p:spPr>
          <a:xfrm>
            <a:off x="0" y="56"/>
            <a:ext cx="5939027" cy="6857873"/>
          </a:xfrm>
          <a:prstGeom prst="rect">
            <a:avLst/>
          </a:prstGeom>
          <a:noFill/>
          <a:ln>
            <a:noFill/>
          </a:ln>
        </p:spPr>
      </p:pic>
      <p:grpSp>
        <p:nvGrpSpPr>
          <p:cNvPr id="49" name="Google Shape;49;p7"/>
          <p:cNvGrpSpPr/>
          <p:nvPr/>
        </p:nvGrpSpPr>
        <p:grpSpPr>
          <a:xfrm>
            <a:off x="8631935" y="4213605"/>
            <a:ext cx="867410" cy="163195"/>
            <a:chOff x="8631935" y="4213605"/>
            <a:chExt cx="867410" cy="163195"/>
          </a:xfrm>
        </p:grpSpPr>
        <p:sp>
          <p:nvSpPr>
            <p:cNvPr id="50" name="Google Shape;50;p7"/>
            <p:cNvSpPr/>
            <p:nvPr/>
          </p:nvSpPr>
          <p:spPr>
            <a:xfrm>
              <a:off x="8983852" y="4213605"/>
              <a:ext cx="163195" cy="163195"/>
            </a:xfrm>
            <a:custGeom>
              <a:rect b="b" l="l" r="r" t="t"/>
              <a:pathLst>
                <a:path extrusionOk="0" h="163195" w="163195">
                  <a:moveTo>
                    <a:pt x="83057" y="0"/>
                  </a:moveTo>
                  <a:lnTo>
                    <a:pt x="0" y="80010"/>
                  </a:lnTo>
                  <a:lnTo>
                    <a:pt x="80010" y="163195"/>
                  </a:lnTo>
                  <a:lnTo>
                    <a:pt x="163195" y="83185"/>
                  </a:lnTo>
                  <a:lnTo>
                    <a:pt x="83057" y="0"/>
                  </a:lnTo>
                  <a:close/>
                </a:path>
              </a:pathLst>
            </a:custGeom>
            <a:noFill/>
            <a:ln cap="flat" cmpd="sng" w="15850">
              <a:solidFill>
                <a:srgbClr val="23364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p7"/>
            <p:cNvSpPr/>
            <p:nvPr/>
          </p:nvSpPr>
          <p:spPr>
            <a:xfrm>
              <a:off x="8631935" y="4294631"/>
              <a:ext cx="867410" cy="0"/>
            </a:xfrm>
            <a:custGeom>
              <a:rect b="b" l="l" r="r" t="t"/>
              <a:pathLst>
                <a:path extrusionOk="0" h="120000" w="867409">
                  <a:moveTo>
                    <a:pt x="515112" y="0"/>
                  </a:moveTo>
                  <a:lnTo>
                    <a:pt x="867283" y="0"/>
                  </a:lnTo>
                </a:path>
                <a:path extrusionOk="0" h="120000" w="867409">
                  <a:moveTo>
                    <a:pt x="0" y="0"/>
                  </a:moveTo>
                  <a:lnTo>
                    <a:pt x="352171" y="0"/>
                  </a:lnTo>
                </a:path>
              </a:pathLst>
            </a:custGeom>
            <a:noFill/>
            <a:ln cap="flat" cmpd="sng" w="15875">
              <a:solidFill>
                <a:srgbClr val="23364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8"/>
          <p:cNvSpPr txBox="1"/>
          <p:nvPr>
            <p:ph type="title"/>
          </p:nvPr>
        </p:nvSpPr>
        <p:spPr>
          <a:xfrm>
            <a:off x="1107744" y="1447038"/>
            <a:ext cx="4328795" cy="51371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IN"/>
              <a:t>AIM AND OBJECTIVE :</a:t>
            </a:r>
            <a:endParaRPr/>
          </a:p>
        </p:txBody>
      </p:sp>
      <p:sp>
        <p:nvSpPr>
          <p:cNvPr id="57" name="Google Shape;57;p8"/>
          <p:cNvSpPr txBox="1"/>
          <p:nvPr/>
        </p:nvSpPr>
        <p:spPr>
          <a:xfrm>
            <a:off x="1107744" y="2155393"/>
            <a:ext cx="9898380" cy="3308350"/>
          </a:xfrm>
          <a:prstGeom prst="rect">
            <a:avLst/>
          </a:prstGeom>
          <a:noFill/>
          <a:ln>
            <a:noFill/>
          </a:ln>
        </p:spPr>
        <p:txBody>
          <a:bodyPr anchorCtr="0" anchor="t" bIns="0" lIns="0" spcFirstLastPara="1" rIns="0" wrap="square" tIns="45075">
            <a:spAutoFit/>
          </a:bodyPr>
          <a:lstStyle/>
          <a:p>
            <a:pPr indent="0" lvl="0" marL="12700" marR="5080" rtl="0" algn="l">
              <a:lnSpc>
                <a:spcPct val="107894"/>
              </a:lnSpc>
              <a:spcBef>
                <a:spcPts val="0"/>
              </a:spcBef>
              <a:spcAft>
                <a:spcPts val="0"/>
              </a:spcAft>
              <a:buNone/>
            </a:pPr>
            <a:r>
              <a:rPr lang="en-IN" sz="1900">
                <a:solidFill>
                  <a:srgbClr val="233641"/>
                </a:solidFill>
                <a:latin typeface="Georgia"/>
                <a:ea typeface="Georgia"/>
                <a:cs typeface="Georgia"/>
                <a:sym typeface="Georgia"/>
              </a:rPr>
              <a:t>“Flood Detection And Intimation” is an intelligent system which keeps close watch over various natural  factors to predict a flood, so we can embrace ourselves for caution, to minimize the damage caused by  the flood.</a:t>
            </a:r>
            <a:endParaRPr sz="1900">
              <a:solidFill>
                <a:schemeClr val="dk1"/>
              </a:solidFill>
              <a:latin typeface="Georgia"/>
              <a:ea typeface="Georgia"/>
              <a:cs typeface="Georgia"/>
              <a:sym typeface="Georgia"/>
            </a:endParaRPr>
          </a:p>
          <a:p>
            <a:pPr indent="0" lvl="0" marL="12700" marR="182880" rtl="0" algn="l">
              <a:lnSpc>
                <a:spcPct val="90000"/>
              </a:lnSpc>
              <a:spcBef>
                <a:spcPts val="975"/>
              </a:spcBef>
              <a:spcAft>
                <a:spcPts val="0"/>
              </a:spcAft>
              <a:buNone/>
            </a:pPr>
            <a:r>
              <a:rPr lang="en-IN" sz="1900">
                <a:solidFill>
                  <a:srgbClr val="233641"/>
                </a:solidFill>
                <a:latin typeface="Georgia"/>
                <a:ea typeface="Georgia"/>
                <a:cs typeface="Georgia"/>
                <a:sym typeface="Georgia"/>
              </a:rPr>
              <a:t>To detect a flood the system observes various natural factors, which includes humidity, temperature,  water level and flow level.To collect data of mentioned natural factors the system consist of different  sensors which collects data for individual parameters. For detecting changes in humidity and  temperature the system has a DHT11 Digital Temperature Humidity Sensor. It is a advanced sensor  module with consists of resistive humidity and temperature detection components.The system also  consist of a HC-SR04 Ultrasonic Range Finder Distance Sensor.The Ultrasonic sensor works on the  principle of SONAR and is designed to measure the distance using ultrasonic wave to determine the  distance of an object from the sensor. All the sensors are connected to Arduino UNO, which processes  and saves  data.</a:t>
            </a:r>
            <a:endParaRPr sz="1900">
              <a:solidFill>
                <a:schemeClr val="dk1"/>
              </a:solidFill>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9"/>
          <p:cNvSpPr txBox="1"/>
          <p:nvPr>
            <p:ph type="title"/>
          </p:nvPr>
        </p:nvSpPr>
        <p:spPr>
          <a:xfrm>
            <a:off x="1107744" y="1447038"/>
            <a:ext cx="3983990" cy="51371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IN"/>
              <a:t>PROPOSED SYSTEM:</a:t>
            </a:r>
            <a:endParaRPr/>
          </a:p>
        </p:txBody>
      </p:sp>
      <p:sp>
        <p:nvSpPr>
          <p:cNvPr id="63" name="Google Shape;63;p9"/>
          <p:cNvSpPr txBox="1"/>
          <p:nvPr/>
        </p:nvSpPr>
        <p:spPr>
          <a:xfrm>
            <a:off x="1107744" y="2161869"/>
            <a:ext cx="9881235" cy="2963545"/>
          </a:xfrm>
          <a:prstGeom prst="rect">
            <a:avLst/>
          </a:prstGeom>
          <a:noFill/>
          <a:ln>
            <a:noFill/>
          </a:ln>
        </p:spPr>
        <p:txBody>
          <a:bodyPr anchorCtr="0" anchor="t" bIns="0" lIns="0" spcFirstLastPara="1" rIns="0" wrap="square" tIns="12700">
            <a:spAutoFit/>
          </a:bodyPr>
          <a:lstStyle/>
          <a:p>
            <a:pPr indent="-457200" lvl="0" marL="469265" marR="114300" rtl="0" algn="l">
              <a:lnSpc>
                <a:spcPct val="110000"/>
              </a:lnSpc>
              <a:spcBef>
                <a:spcPts val="0"/>
              </a:spcBef>
              <a:spcAft>
                <a:spcPts val="0"/>
              </a:spcAft>
              <a:buClr>
                <a:srgbClr val="233641"/>
              </a:buClr>
              <a:buSzPts val="2000"/>
              <a:buFont typeface="Georgia"/>
              <a:buAutoNum type="arabicParenR"/>
            </a:pPr>
            <a:r>
              <a:rPr lang="en-IN" sz="2000">
                <a:solidFill>
                  <a:srgbClr val="233641"/>
                </a:solidFill>
                <a:latin typeface="Georgia"/>
                <a:ea typeface="Georgia"/>
                <a:cs typeface="Georgia"/>
                <a:sym typeface="Georgia"/>
              </a:rPr>
              <a:t>This project intend to provide a correlation between water level(distance), humidity,  temperature, with the help of sensors like DHT 11, HC SR-04, LED, ALARM (sound alert),  and intimates about the flood</a:t>
            </a:r>
            <a:endParaRPr sz="2000">
              <a:solidFill>
                <a:schemeClr val="dk1"/>
              </a:solidFill>
              <a:latin typeface="Georgia"/>
              <a:ea typeface="Georgia"/>
              <a:cs typeface="Georgia"/>
              <a:sym typeface="Georgia"/>
            </a:endParaRPr>
          </a:p>
          <a:p>
            <a:pPr indent="-457200" lvl="0" marL="469265" marR="0" rtl="0" algn="l">
              <a:lnSpc>
                <a:spcPct val="100000"/>
              </a:lnSpc>
              <a:spcBef>
                <a:spcPts val="1240"/>
              </a:spcBef>
              <a:spcAft>
                <a:spcPts val="0"/>
              </a:spcAft>
              <a:buClr>
                <a:srgbClr val="233641"/>
              </a:buClr>
              <a:buSzPts val="2000"/>
              <a:buFont typeface="Georgia"/>
              <a:buAutoNum type="arabicParenR"/>
            </a:pPr>
            <a:r>
              <a:rPr lang="en-IN" sz="2000">
                <a:solidFill>
                  <a:srgbClr val="233641"/>
                </a:solidFill>
                <a:latin typeface="Georgia"/>
                <a:ea typeface="Georgia"/>
                <a:cs typeface="Georgia"/>
                <a:sym typeface="Georgia"/>
              </a:rPr>
              <a:t>Also, it consists of Buzzer system which is effective from a threshold of under 10cm and beeps</a:t>
            </a:r>
            <a:endParaRPr sz="2000">
              <a:solidFill>
                <a:schemeClr val="dk1"/>
              </a:solidFill>
              <a:latin typeface="Georgia"/>
              <a:ea typeface="Georgia"/>
              <a:cs typeface="Georgia"/>
              <a:sym typeface="Georgia"/>
            </a:endParaRPr>
          </a:p>
          <a:p>
            <a:pPr indent="0" lvl="0" marL="469265" marR="0" rtl="0" algn="l">
              <a:lnSpc>
                <a:spcPct val="100000"/>
              </a:lnSpc>
              <a:spcBef>
                <a:spcPts val="240"/>
              </a:spcBef>
              <a:spcAft>
                <a:spcPts val="0"/>
              </a:spcAft>
              <a:buNone/>
            </a:pPr>
            <a:r>
              <a:rPr lang="en-IN" sz="2000">
                <a:solidFill>
                  <a:srgbClr val="233641"/>
                </a:solidFill>
                <a:latin typeface="Georgia"/>
                <a:ea typeface="Georgia"/>
                <a:cs typeface="Georgia"/>
                <a:sym typeface="Georgia"/>
              </a:rPr>
              <a:t>when the object is at a  distance less than 10cm</a:t>
            </a:r>
            <a:endParaRPr sz="2000">
              <a:solidFill>
                <a:schemeClr val="dk1"/>
              </a:solidFill>
              <a:latin typeface="Georgia"/>
              <a:ea typeface="Georgia"/>
              <a:cs typeface="Georgia"/>
              <a:sym typeface="Georgia"/>
            </a:endParaRPr>
          </a:p>
          <a:p>
            <a:pPr indent="-457200" lvl="0" marL="469265" marR="5080" rtl="0" algn="l">
              <a:lnSpc>
                <a:spcPct val="110000"/>
              </a:lnSpc>
              <a:spcBef>
                <a:spcPts val="1010"/>
              </a:spcBef>
              <a:spcAft>
                <a:spcPts val="0"/>
              </a:spcAft>
              <a:buClr>
                <a:srgbClr val="233641"/>
              </a:buClr>
              <a:buSzPts val="2000"/>
              <a:buFont typeface="Georgia"/>
              <a:buAutoNum type="arabicParenR" startAt="3"/>
            </a:pPr>
            <a:r>
              <a:rPr lang="en-IN" sz="2000">
                <a:solidFill>
                  <a:srgbClr val="233641"/>
                </a:solidFill>
                <a:latin typeface="Georgia"/>
                <a:ea typeface="Georgia"/>
                <a:cs typeface="Georgia"/>
                <a:sym typeface="Georgia"/>
              </a:rPr>
              <a:t>If the ultrasonic sensor detect a movement within its range, then alarm is activated notifying  danger ,that helps in early prediction of flood. And gives appropriate time to deal the situation  in best possible manner</a:t>
            </a:r>
            <a:endParaRPr sz="2000">
              <a:solidFill>
                <a:schemeClr val="dk1"/>
              </a:solidFill>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0"/>
          <p:cNvSpPr txBox="1"/>
          <p:nvPr>
            <p:ph type="title"/>
          </p:nvPr>
        </p:nvSpPr>
        <p:spPr>
          <a:xfrm>
            <a:off x="838200" y="457200"/>
            <a:ext cx="9976510" cy="98488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IN"/>
              <a:t>Literature Survey</a:t>
            </a:r>
            <a:br>
              <a:rPr lang="en-IN"/>
            </a:br>
            <a:endParaRPr/>
          </a:p>
        </p:txBody>
      </p:sp>
      <p:graphicFrame>
        <p:nvGraphicFramePr>
          <p:cNvPr id="69" name="Google Shape;69;p10"/>
          <p:cNvGraphicFramePr/>
          <p:nvPr/>
        </p:nvGraphicFramePr>
        <p:xfrm>
          <a:off x="868680" y="1143000"/>
          <a:ext cx="3000000" cy="3000000"/>
        </p:xfrm>
        <a:graphic>
          <a:graphicData uri="http://schemas.openxmlformats.org/drawingml/2006/table">
            <a:tbl>
              <a:tblPr bandRow="1" firstRow="1">
                <a:noFill/>
                <a:tableStyleId>{E1282732-8A78-4639-991E-F2C1EF63912C}</a:tableStyleId>
              </a:tblPr>
              <a:tblGrid>
                <a:gridCol w="1764225"/>
                <a:gridCol w="1764225"/>
                <a:gridCol w="1764225"/>
                <a:gridCol w="1764225"/>
                <a:gridCol w="3611125"/>
              </a:tblGrid>
              <a:tr h="855300">
                <a:tc>
                  <a:txBody>
                    <a:bodyPr/>
                    <a:lstStyle/>
                    <a:p>
                      <a:pPr indent="0" lvl="0" marL="0" marR="0" rtl="0" algn="l">
                        <a:spcBef>
                          <a:spcPts val="0"/>
                        </a:spcBef>
                        <a:spcAft>
                          <a:spcPts val="0"/>
                        </a:spcAft>
                        <a:buNone/>
                      </a:pPr>
                      <a:r>
                        <a:rPr b="1" lang="en-IN" sz="1800" u="none" cap="none" strike="noStrike">
                          <a:solidFill>
                            <a:schemeClr val="lt1"/>
                          </a:solidFill>
                        </a:rPr>
                        <a:t>Title</a:t>
                      </a:r>
                      <a:endParaRPr sz="1800"/>
                    </a:p>
                  </a:txBody>
                  <a:tcPr marT="45725" marB="45725" marR="91450" marL="91450"/>
                </a:tc>
                <a:tc>
                  <a:txBody>
                    <a:bodyPr/>
                    <a:lstStyle/>
                    <a:p>
                      <a:pPr indent="0" lvl="0" marL="0" marR="0" rtl="0" algn="l">
                        <a:spcBef>
                          <a:spcPts val="0"/>
                        </a:spcBef>
                        <a:spcAft>
                          <a:spcPts val="0"/>
                        </a:spcAft>
                        <a:buNone/>
                      </a:pPr>
                      <a:r>
                        <a:rPr b="1" lang="en-IN" sz="1800">
                          <a:solidFill>
                            <a:schemeClr val="lt1"/>
                          </a:solidFill>
                        </a:rPr>
                        <a:t>Author &amp; year</a:t>
                      </a:r>
                      <a:endParaRPr sz="1800"/>
                    </a:p>
                  </a:txBody>
                  <a:tcPr marT="45725" marB="45725" marR="91450" marL="91450"/>
                </a:tc>
                <a:tc>
                  <a:txBody>
                    <a:bodyPr/>
                    <a:lstStyle/>
                    <a:p>
                      <a:pPr indent="0" lvl="0" marL="0" marR="0" rtl="0" algn="l">
                        <a:spcBef>
                          <a:spcPts val="0"/>
                        </a:spcBef>
                        <a:spcAft>
                          <a:spcPts val="0"/>
                        </a:spcAft>
                        <a:buNone/>
                      </a:pPr>
                      <a:r>
                        <a:rPr b="1" lang="en-IN" sz="1800">
                          <a:solidFill>
                            <a:schemeClr val="lt1"/>
                          </a:solidFill>
                        </a:rPr>
                        <a:t>Purpose</a:t>
                      </a:r>
                      <a:endParaRPr sz="1800"/>
                    </a:p>
                  </a:txBody>
                  <a:tcPr marT="45725" marB="45725" marR="91450" marL="91450"/>
                </a:tc>
                <a:tc>
                  <a:txBody>
                    <a:bodyPr/>
                    <a:lstStyle/>
                    <a:p>
                      <a:pPr indent="0" lvl="0" marL="0" marR="0" rtl="0" algn="l">
                        <a:spcBef>
                          <a:spcPts val="0"/>
                        </a:spcBef>
                        <a:spcAft>
                          <a:spcPts val="0"/>
                        </a:spcAft>
                        <a:buNone/>
                      </a:pPr>
                      <a:r>
                        <a:rPr b="1" lang="en-IN" sz="1800">
                          <a:solidFill>
                            <a:schemeClr val="lt1"/>
                          </a:solidFill>
                        </a:rPr>
                        <a:t>Methods/</a:t>
                      </a:r>
                      <a:endParaRPr b="1" sz="1800">
                        <a:solidFill>
                          <a:schemeClr val="lt1"/>
                        </a:solidFill>
                      </a:endParaRPr>
                    </a:p>
                    <a:p>
                      <a:pPr indent="0" lvl="0" marL="0" marR="0" rtl="0" algn="l">
                        <a:spcBef>
                          <a:spcPts val="0"/>
                        </a:spcBef>
                        <a:spcAft>
                          <a:spcPts val="0"/>
                        </a:spcAft>
                        <a:buNone/>
                      </a:pPr>
                      <a:r>
                        <a:rPr b="1" lang="en-IN" sz="1800">
                          <a:solidFill>
                            <a:schemeClr val="lt1"/>
                          </a:solidFill>
                        </a:rPr>
                        <a:t>technology used</a:t>
                      </a:r>
                      <a:endParaRPr sz="1800"/>
                    </a:p>
                  </a:txBody>
                  <a:tcPr marT="45725" marB="45725" marR="91450" marL="91450"/>
                </a:tc>
                <a:tc>
                  <a:txBody>
                    <a:bodyPr/>
                    <a:lstStyle/>
                    <a:p>
                      <a:pPr indent="0" lvl="0" marL="0" marR="0" rtl="0" algn="l">
                        <a:spcBef>
                          <a:spcPts val="0"/>
                        </a:spcBef>
                        <a:spcAft>
                          <a:spcPts val="0"/>
                        </a:spcAft>
                        <a:buNone/>
                      </a:pPr>
                      <a:r>
                        <a:rPr b="1" lang="en-IN" sz="1800">
                          <a:solidFill>
                            <a:schemeClr val="lt1"/>
                          </a:solidFill>
                        </a:rPr>
                        <a:t>Limitations/ gaps identified</a:t>
                      </a:r>
                      <a:endParaRPr sz="1800"/>
                    </a:p>
                  </a:txBody>
                  <a:tcPr marT="45725" marB="45725" marR="91450" marL="91450"/>
                </a:tc>
              </a:tr>
              <a:tr h="3791800">
                <a:tc>
                  <a:txBody>
                    <a:bodyPr/>
                    <a:lstStyle/>
                    <a:p>
                      <a:pPr indent="0" lvl="0" marL="0" marR="0" rtl="0" algn="l">
                        <a:spcBef>
                          <a:spcPts val="0"/>
                        </a:spcBef>
                        <a:spcAft>
                          <a:spcPts val="0"/>
                        </a:spcAft>
                        <a:buNone/>
                      </a:pPr>
                      <a:r>
                        <a:rPr b="1" lang="en-IN" sz="1800">
                          <a:solidFill>
                            <a:schemeClr val="dk1"/>
                          </a:solidFill>
                        </a:rPr>
                        <a:t>Flood detector using Arduino</a:t>
                      </a:r>
                      <a:endParaRPr sz="1800"/>
                    </a:p>
                  </a:txBody>
                  <a:tcPr marT="45725" marB="45725" marR="91450" marL="91450"/>
                </a:tc>
                <a:tc>
                  <a:txBody>
                    <a:bodyPr/>
                    <a:lstStyle/>
                    <a:p>
                      <a:pPr indent="0" lvl="0" marL="0" marR="0" rtl="0" algn="l">
                        <a:spcBef>
                          <a:spcPts val="0"/>
                        </a:spcBef>
                        <a:spcAft>
                          <a:spcPts val="0"/>
                        </a:spcAft>
                        <a:buNone/>
                      </a:pPr>
                      <a:r>
                        <a:rPr lang="en-IN" sz="1400">
                          <a:solidFill>
                            <a:schemeClr val="dk1"/>
                          </a:solidFill>
                        </a:rPr>
                        <a:t>Roy Allan Santos, Ryan Richard Guadaña, Our Lady of Fatima University.2016</a:t>
                      </a:r>
                      <a:endParaRPr sz="1400"/>
                    </a:p>
                  </a:txBody>
                  <a:tcPr marT="45725" marB="45725" marR="91450" marL="91450"/>
                </a:tc>
                <a:tc>
                  <a:txBody>
                    <a:bodyPr/>
                    <a:lstStyle/>
                    <a:p>
                      <a:pPr indent="0" lvl="0" marL="0" marR="0" rtl="0" algn="l">
                        <a:spcBef>
                          <a:spcPts val="0"/>
                        </a:spcBef>
                        <a:spcAft>
                          <a:spcPts val="0"/>
                        </a:spcAft>
                        <a:buNone/>
                      </a:pPr>
                      <a:r>
                        <a:rPr lang="en-IN" sz="1400">
                          <a:solidFill>
                            <a:schemeClr val="dk1"/>
                          </a:solidFill>
                        </a:rPr>
                        <a:t>Flood is an</a:t>
                      </a:r>
                      <a:r>
                        <a:rPr lang="en-IN" sz="1800">
                          <a:solidFill>
                            <a:schemeClr val="dk1"/>
                          </a:solidFill>
                        </a:rPr>
                        <a:t> </a:t>
                      </a:r>
                      <a:r>
                        <a:rPr lang="en-IN" sz="1400">
                          <a:solidFill>
                            <a:schemeClr val="dk1"/>
                          </a:solidFill>
                        </a:rPr>
                        <a:t>unavoidable natural disaster in Metro Manila, Philippines, causing heavy flow of traffic and can also cause severe damage to properties and lives</a:t>
                      </a:r>
                      <a:r>
                        <a:rPr b="1" lang="en-IN" sz="1400">
                          <a:solidFill>
                            <a:schemeClr val="dk1"/>
                          </a:solidFill>
                        </a:rPr>
                        <a:t>.</a:t>
                      </a:r>
                      <a:r>
                        <a:rPr lang="en-IN" sz="1400">
                          <a:solidFill>
                            <a:schemeClr val="dk1"/>
                          </a:solidFill>
                        </a:rPr>
                        <a:t>For this reason, researchers created a flood detection system to monitor rising</a:t>
                      </a:r>
                      <a:endParaRPr sz="1400">
                        <a:solidFill>
                          <a:schemeClr val="dk1"/>
                        </a:solidFill>
                      </a:endParaRPr>
                    </a:p>
                    <a:p>
                      <a:pPr indent="0" lvl="0" marL="0" marR="0" rtl="0" algn="l">
                        <a:spcBef>
                          <a:spcPts val="0"/>
                        </a:spcBef>
                        <a:spcAft>
                          <a:spcPts val="0"/>
                        </a:spcAft>
                        <a:buNone/>
                      </a:pPr>
                      <a:r>
                        <a:rPr lang="en-IN" sz="1400">
                          <a:solidFill>
                            <a:schemeClr val="dk1"/>
                          </a:solidFill>
                        </a:rPr>
                        <a:t>water in residential areas.</a:t>
                      </a:r>
                      <a:endParaRPr sz="1400">
                        <a:solidFill>
                          <a:schemeClr val="dk1"/>
                        </a:solidFill>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IN" sz="1400">
                          <a:solidFill>
                            <a:schemeClr val="dk1"/>
                          </a:solidFill>
                        </a:rPr>
                        <a:t>Ultrasonic Sensor,Arduino Yun, Flood sensor and microcontroller, solar power bank with 80,000 Ampere-Hour (mAh),LED,Camera</a:t>
                      </a:r>
                      <a:endParaRPr sz="1400"/>
                    </a:p>
                  </a:txBody>
                  <a:tcPr marT="45725" marB="45725" marR="91450" marL="91450"/>
                </a:tc>
                <a:tc>
                  <a:txBody>
                    <a:bodyPr/>
                    <a:lstStyle/>
                    <a:p>
                      <a:pPr indent="0" lvl="0" marL="0" marR="0" rtl="0" algn="l">
                        <a:spcBef>
                          <a:spcPts val="0"/>
                        </a:spcBef>
                        <a:spcAft>
                          <a:spcPts val="0"/>
                        </a:spcAft>
                        <a:buNone/>
                      </a:pPr>
                      <a:r>
                        <a:rPr lang="en-IN" sz="1400">
                          <a:solidFill>
                            <a:schemeClr val="dk1"/>
                          </a:solidFill>
                        </a:rPr>
                        <a:t>In the proposed system when the level of water goes below a certain limit, the HC-SR04 starts showing some ir-regular values of distance. </a:t>
                      </a:r>
                      <a:endParaRPr sz="1400"/>
                    </a:p>
                  </a:txBody>
                  <a:tcPr marT="45725" marB="45725" marR="91450" marL="91450"/>
                </a:tc>
              </a:tr>
              <a:tr h="342125">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graphicFrame>
        <p:nvGraphicFramePr>
          <p:cNvPr id="74" name="Google Shape;74;p11"/>
          <p:cNvGraphicFramePr/>
          <p:nvPr/>
        </p:nvGraphicFramePr>
        <p:xfrm>
          <a:off x="914400" y="762000"/>
          <a:ext cx="3000000" cy="3000000"/>
        </p:xfrm>
        <a:graphic>
          <a:graphicData uri="http://schemas.openxmlformats.org/drawingml/2006/table">
            <a:tbl>
              <a:tblPr bandRow="1" firstRow="1">
                <a:noFill/>
                <a:tableStyleId>{E1282732-8A78-4639-991E-F2C1EF63912C}</a:tableStyleId>
              </a:tblPr>
              <a:tblGrid>
                <a:gridCol w="2103125"/>
                <a:gridCol w="2103125"/>
                <a:gridCol w="2103125"/>
                <a:gridCol w="2103125"/>
                <a:gridCol w="2103125"/>
              </a:tblGrid>
              <a:tr h="4487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4885250">
                <a:tc>
                  <a:txBody>
                    <a:bodyPr/>
                    <a:lstStyle/>
                    <a:p>
                      <a:pPr indent="0" lvl="0" marL="0" marR="0" rtl="0" algn="l">
                        <a:spcBef>
                          <a:spcPts val="0"/>
                        </a:spcBef>
                        <a:spcAft>
                          <a:spcPts val="0"/>
                        </a:spcAft>
                        <a:buNone/>
                      </a:pPr>
                      <a:r>
                        <a:rPr b="1" lang="en-IN" sz="1800">
                          <a:solidFill>
                            <a:schemeClr val="dk1"/>
                          </a:solidFill>
                        </a:rPr>
                        <a:t>Survey on Flooding Detection System using Internet of</a:t>
                      </a:r>
                      <a:endParaRPr sz="1800">
                        <a:solidFill>
                          <a:schemeClr val="dk1"/>
                        </a:solidFill>
                      </a:endParaRPr>
                    </a:p>
                    <a:p>
                      <a:pPr indent="0" lvl="0" marL="0" marR="0" rtl="0" algn="l">
                        <a:spcBef>
                          <a:spcPts val="0"/>
                        </a:spcBef>
                        <a:spcAft>
                          <a:spcPts val="0"/>
                        </a:spcAft>
                        <a:buNone/>
                      </a:pPr>
                      <a:r>
                        <a:rPr b="1" lang="en-IN" sz="1800">
                          <a:solidFill>
                            <a:schemeClr val="dk1"/>
                          </a:solidFill>
                        </a:rPr>
                        <a:t>Things</a:t>
                      </a:r>
                      <a:endParaRPr sz="1800"/>
                    </a:p>
                  </a:txBody>
                  <a:tcPr marT="45725" marB="45725" marR="91450" marL="91450"/>
                </a:tc>
                <a:tc>
                  <a:txBody>
                    <a:bodyPr/>
                    <a:lstStyle/>
                    <a:p>
                      <a:pPr indent="0" lvl="0" marL="0" marR="0" rtl="0" algn="l">
                        <a:spcBef>
                          <a:spcPts val="0"/>
                        </a:spcBef>
                        <a:spcAft>
                          <a:spcPts val="0"/>
                        </a:spcAft>
                        <a:buNone/>
                      </a:pPr>
                      <a:r>
                        <a:rPr lang="en-IN" sz="1400">
                          <a:solidFill>
                            <a:schemeClr val="dk1"/>
                          </a:solidFill>
                        </a:rPr>
                        <a:t>Mahendra Salunke, Nilesh Korade</a:t>
                      </a:r>
                      <a:endParaRPr sz="1400">
                        <a:solidFill>
                          <a:schemeClr val="dk1"/>
                        </a:solidFill>
                      </a:endParaRPr>
                    </a:p>
                    <a:p>
                      <a:pPr indent="0" lvl="0" marL="0" marR="0" rtl="0" algn="l">
                        <a:spcBef>
                          <a:spcPts val="0"/>
                        </a:spcBef>
                        <a:spcAft>
                          <a:spcPts val="0"/>
                        </a:spcAft>
                        <a:buNone/>
                      </a:pPr>
                      <a:r>
                        <a:rPr lang="en-IN" sz="1400">
                          <a:solidFill>
                            <a:schemeClr val="dk1"/>
                          </a:solidFill>
                        </a:rPr>
                        <a:t>May 2017</a:t>
                      </a:r>
                      <a:endParaRPr sz="1400"/>
                    </a:p>
                  </a:txBody>
                  <a:tcPr marT="45725" marB="45725" marR="91450" marL="91450"/>
                </a:tc>
                <a:tc>
                  <a:txBody>
                    <a:bodyPr/>
                    <a:lstStyle/>
                    <a:p>
                      <a:pPr indent="0" lvl="0" marL="0" marR="0" rtl="0" algn="l">
                        <a:lnSpc>
                          <a:spcPct val="115000"/>
                        </a:lnSpc>
                        <a:spcBef>
                          <a:spcPts val="0"/>
                        </a:spcBef>
                        <a:spcAft>
                          <a:spcPts val="0"/>
                        </a:spcAft>
                        <a:buNone/>
                      </a:pPr>
                      <a:r>
                        <a:rPr lang="en-IN" sz="1400"/>
                        <a:t>This paper aims to realize the security requirement and security architecture of Internet of things technology for urban flooding prevention management system and discussed the demand and overall design of urban flooding prevention management system.</a:t>
                      </a:r>
                      <a:endParaRPr sz="1100">
                        <a:latin typeface="Arial"/>
                        <a:ea typeface="Arial"/>
                        <a:cs typeface="Arial"/>
                        <a:sym typeface="Arial"/>
                      </a:endParaRPr>
                    </a:p>
                  </a:txBody>
                  <a:tcPr marT="63500" marB="63500" marR="63500" marL="63500"/>
                </a:tc>
                <a:tc>
                  <a:txBody>
                    <a:bodyPr/>
                    <a:lstStyle/>
                    <a:p>
                      <a:pPr indent="0" lvl="0" marL="0" marR="0" rtl="0" algn="l">
                        <a:spcBef>
                          <a:spcPts val="0"/>
                        </a:spcBef>
                        <a:spcAft>
                          <a:spcPts val="0"/>
                        </a:spcAft>
                        <a:buNone/>
                      </a:pPr>
                      <a:r>
                        <a:rPr lang="en-IN" sz="1400"/>
                        <a:t>Ultrasonic Flow-meter,Water Level Indicator,Rain sensor</a:t>
                      </a:r>
                      <a:endParaRPr sz="1400">
                        <a:latin typeface="Calibri"/>
                        <a:ea typeface="Calibri"/>
                        <a:cs typeface="Calibri"/>
                        <a:sym typeface="Calibri"/>
                      </a:endParaRPr>
                    </a:p>
                  </a:txBody>
                  <a:tcPr marT="45725" marB="45725" marR="91450" marL="91450"/>
                </a:tc>
                <a:tc>
                  <a:txBody>
                    <a:bodyPr/>
                    <a:lstStyle/>
                    <a:p>
                      <a:pPr indent="0" lvl="0" marL="0" marR="0" rtl="0" algn="l">
                        <a:lnSpc>
                          <a:spcPct val="115000"/>
                        </a:lnSpc>
                        <a:spcBef>
                          <a:spcPts val="0"/>
                        </a:spcBef>
                        <a:spcAft>
                          <a:spcPts val="0"/>
                        </a:spcAft>
                        <a:buNone/>
                      </a:pPr>
                      <a:r>
                        <a:rPr lang="en-IN" sz="1400"/>
                        <a:t>In places like J&amp;K, there are longer tunnels that are under construction, Panjal Railway Tunnel it is part of the USBRL Project having length 11.2 km long. The system will not be able to effectively calculate how much time will required to fill tunnel so travelers get the information about flooding.</a:t>
                      </a:r>
                      <a:endParaRPr sz="1100">
                        <a:latin typeface="Arial"/>
                        <a:ea typeface="Arial"/>
                        <a:cs typeface="Arial"/>
                        <a:sym typeface="Arial"/>
                      </a:endParaRPr>
                    </a:p>
                  </a:txBody>
                  <a:tcPr marT="63500" marB="63500" marR="63500" marL="6350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graphicFrame>
        <p:nvGraphicFramePr>
          <p:cNvPr id="79" name="Google Shape;79;p12"/>
          <p:cNvGraphicFramePr/>
          <p:nvPr/>
        </p:nvGraphicFramePr>
        <p:xfrm>
          <a:off x="914400" y="723900"/>
          <a:ext cx="3000000" cy="3000000"/>
        </p:xfrm>
        <a:graphic>
          <a:graphicData uri="http://schemas.openxmlformats.org/drawingml/2006/table">
            <a:tbl>
              <a:tblPr bandRow="1" firstRow="1">
                <a:noFill/>
                <a:tableStyleId>{E1282732-8A78-4639-991E-F2C1EF63912C}</a:tableStyleId>
              </a:tblPr>
              <a:tblGrid>
                <a:gridCol w="2103125"/>
                <a:gridCol w="2103125"/>
                <a:gridCol w="2103125"/>
                <a:gridCol w="2103125"/>
                <a:gridCol w="2103125"/>
              </a:tblGrid>
              <a:tr h="3725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5037650">
                <a:tc>
                  <a:txBody>
                    <a:bodyPr/>
                    <a:lstStyle/>
                    <a:p>
                      <a:pPr indent="0" lvl="0" marL="0" marR="0" rtl="0" algn="l">
                        <a:spcBef>
                          <a:spcPts val="0"/>
                        </a:spcBef>
                        <a:spcAft>
                          <a:spcPts val="0"/>
                        </a:spcAft>
                        <a:buNone/>
                      </a:pPr>
                      <a:r>
                        <a:rPr b="1" lang="en-IN" sz="1800">
                          <a:solidFill>
                            <a:schemeClr val="dk1"/>
                          </a:solidFill>
                        </a:rPr>
                        <a:t>Flood detecting and alerting system </a:t>
                      </a:r>
                      <a:endParaRPr sz="1800"/>
                    </a:p>
                  </a:txBody>
                  <a:tcPr marT="45725" marB="45725" marR="91450" marL="91450"/>
                </a:tc>
                <a:tc>
                  <a:txBody>
                    <a:bodyPr/>
                    <a:lstStyle/>
                    <a:p>
                      <a:pPr indent="0" lvl="0" marL="0" marR="0" rtl="0" algn="l">
                        <a:spcBef>
                          <a:spcPts val="0"/>
                        </a:spcBef>
                        <a:spcAft>
                          <a:spcPts val="0"/>
                        </a:spcAft>
                        <a:buNone/>
                      </a:pPr>
                      <a:r>
                        <a:rPr lang="en-IN" sz="1400">
                          <a:solidFill>
                            <a:schemeClr val="dk1"/>
                          </a:solidFill>
                        </a:rPr>
                        <a:t>Tera.Shobhitha, Shaik.Abdul Shabbir,Vesapogu.Jyothi Priya ,</a:t>
                      </a:r>
                      <a:endParaRPr sz="1400">
                        <a:solidFill>
                          <a:schemeClr val="dk1"/>
                        </a:solidFill>
                      </a:endParaRPr>
                    </a:p>
                    <a:p>
                      <a:pPr indent="0" lvl="0" marL="0" marR="0" rtl="0" algn="l">
                        <a:spcBef>
                          <a:spcPts val="0"/>
                        </a:spcBef>
                        <a:spcAft>
                          <a:spcPts val="0"/>
                        </a:spcAft>
                        <a:buNone/>
                      </a:pPr>
                      <a:r>
                        <a:rPr lang="en-IN" sz="1400">
                          <a:solidFill>
                            <a:schemeClr val="dk1"/>
                          </a:solidFill>
                        </a:rPr>
                        <a:t>Sajja.Priyanka and Dr.Kalyanapu.Srinivas.</a:t>
                      </a:r>
                      <a:endParaRPr sz="1400">
                        <a:solidFill>
                          <a:schemeClr val="dk1"/>
                        </a:solidFill>
                      </a:endParaRPr>
                    </a:p>
                    <a:p>
                      <a:pPr indent="0" lvl="0" marL="0" marR="0" rtl="0" algn="l">
                        <a:spcBef>
                          <a:spcPts val="0"/>
                        </a:spcBef>
                        <a:spcAft>
                          <a:spcPts val="0"/>
                        </a:spcAft>
                        <a:buNone/>
                      </a:pPr>
                      <a:r>
                        <a:rPr lang="en-IN" sz="1400">
                          <a:solidFill>
                            <a:schemeClr val="dk1"/>
                          </a:solidFill>
                        </a:rPr>
                        <a:t>2022</a:t>
                      </a:r>
                      <a:endParaRPr sz="1400">
                        <a:solidFill>
                          <a:schemeClr val="dk1"/>
                        </a:solidFill>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lnSpc>
                          <a:spcPct val="115000"/>
                        </a:lnSpc>
                        <a:spcBef>
                          <a:spcPts val="0"/>
                        </a:spcBef>
                        <a:spcAft>
                          <a:spcPts val="0"/>
                        </a:spcAft>
                        <a:buNone/>
                      </a:pPr>
                      <a:r>
                        <a:rPr lang="en-IN" sz="1400"/>
                        <a:t>The floods occurs due to the release of water from the dams but also the</a:t>
                      </a:r>
                      <a:endParaRPr sz="1100"/>
                    </a:p>
                    <a:p>
                      <a:pPr indent="0" lvl="0" marL="0" marR="0" rtl="0" algn="l">
                        <a:lnSpc>
                          <a:spcPct val="115000"/>
                        </a:lnSpc>
                        <a:spcBef>
                          <a:spcPts val="0"/>
                        </a:spcBef>
                        <a:spcAft>
                          <a:spcPts val="0"/>
                        </a:spcAft>
                        <a:buNone/>
                      </a:pPr>
                      <a:r>
                        <a:rPr lang="en-IN" sz="1400"/>
                        <a:t>overflow of water from the manholes can also cause flood which affects the people who are</a:t>
                      </a:r>
                      <a:endParaRPr sz="1100"/>
                    </a:p>
                    <a:p>
                      <a:pPr indent="0" lvl="0" marL="0" marR="0" rtl="0" algn="l">
                        <a:lnSpc>
                          <a:spcPct val="115000"/>
                        </a:lnSpc>
                        <a:spcBef>
                          <a:spcPts val="0"/>
                        </a:spcBef>
                        <a:spcAft>
                          <a:spcPts val="0"/>
                        </a:spcAft>
                        <a:buNone/>
                      </a:pPr>
                      <a:r>
                        <a:rPr lang="en-IN" sz="1400"/>
                        <a:t>living in that particular area. So the system that we are proposing can be implemented to both</a:t>
                      </a:r>
                      <a:endParaRPr sz="1100"/>
                    </a:p>
                    <a:p>
                      <a:pPr indent="0" lvl="0" marL="0" marR="0" rtl="0" algn="l">
                        <a:lnSpc>
                          <a:spcPct val="115000"/>
                        </a:lnSpc>
                        <a:spcBef>
                          <a:spcPts val="0"/>
                        </a:spcBef>
                        <a:spcAft>
                          <a:spcPts val="0"/>
                        </a:spcAft>
                        <a:buNone/>
                      </a:pPr>
                      <a:r>
                        <a:rPr lang="en-IN" sz="1400"/>
                        <a:t>detection of flood from the dams as well as the over flooding of water from sewers.</a:t>
                      </a:r>
                      <a:endParaRPr sz="1100"/>
                    </a:p>
                    <a:p>
                      <a:pPr indent="0" lvl="0" marL="0" marR="0" rtl="0" algn="l">
                        <a:lnSpc>
                          <a:spcPct val="115000"/>
                        </a:lnSpc>
                        <a:spcBef>
                          <a:spcPts val="0"/>
                        </a:spcBef>
                        <a:spcAft>
                          <a:spcPts val="0"/>
                        </a:spcAft>
                        <a:buNone/>
                      </a:pPr>
                      <a:r>
                        <a:rPr lang="en-IN" sz="1400"/>
                        <a:t> </a:t>
                      </a:r>
                      <a:endParaRPr sz="1100">
                        <a:latin typeface="Arial"/>
                        <a:ea typeface="Arial"/>
                        <a:cs typeface="Arial"/>
                        <a:sym typeface="Arial"/>
                      </a:endParaRPr>
                    </a:p>
                  </a:txBody>
                  <a:tcPr marT="63500" marB="63500" marR="63500" marL="63500"/>
                </a:tc>
                <a:tc>
                  <a:txBody>
                    <a:bodyPr/>
                    <a:lstStyle/>
                    <a:p>
                      <a:pPr indent="0" lvl="0" marL="0" marR="0" rtl="0" algn="l">
                        <a:spcBef>
                          <a:spcPts val="0"/>
                        </a:spcBef>
                        <a:spcAft>
                          <a:spcPts val="0"/>
                        </a:spcAft>
                        <a:buNone/>
                      </a:pPr>
                      <a:r>
                        <a:rPr lang="en-IN" sz="1400">
                          <a:solidFill>
                            <a:schemeClr val="dk1"/>
                          </a:solidFill>
                        </a:rPr>
                        <a:t>Sensors,Microcontroller Node MCU,Ultrasonic sensor, water level sensor, temperature and humidity</a:t>
                      </a:r>
                      <a:endParaRPr sz="1400">
                        <a:solidFill>
                          <a:schemeClr val="dk1"/>
                        </a:solidFill>
                      </a:endParaRPr>
                    </a:p>
                    <a:p>
                      <a:pPr indent="0" lvl="0" marL="0" marR="0" rtl="0" algn="l">
                        <a:spcBef>
                          <a:spcPts val="0"/>
                        </a:spcBef>
                        <a:spcAft>
                          <a:spcPts val="0"/>
                        </a:spcAft>
                        <a:buNone/>
                      </a:pPr>
                      <a:r>
                        <a:rPr lang="en-IN" sz="1400">
                          <a:solidFill>
                            <a:schemeClr val="dk1"/>
                          </a:solidFill>
                        </a:rPr>
                        <a:t>sensor, flow level sensor.</a:t>
                      </a:r>
                      <a:endParaRPr sz="1400">
                        <a:solidFill>
                          <a:schemeClr val="dk1"/>
                        </a:solidFill>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lang="en-IN" sz="1400">
                          <a:solidFill>
                            <a:schemeClr val="dk1"/>
                          </a:solidFill>
                        </a:rPr>
                        <a:t>We are using solar cells to provide cheaper source of power to the entire system,but the main drawback of the solar cells is that although solar energy can still be collected during cloudy and rainy days, the efficiency of the solar system drops and it uses a lot of space.</a:t>
                      </a:r>
                      <a:endParaRPr sz="1400">
                        <a:solidFill>
                          <a:schemeClr val="dk1"/>
                        </a:solidFill>
                      </a:endParaRPr>
                    </a:p>
                    <a:p>
                      <a:pPr indent="0" lvl="0" marL="0" marR="0" rtl="0" algn="l">
                        <a:spcBef>
                          <a:spcPts val="0"/>
                        </a:spcBef>
                        <a:spcAft>
                          <a:spcPts val="0"/>
                        </a:spcAft>
                        <a:buNone/>
                      </a:pPr>
                      <a:r>
                        <a:t/>
                      </a:r>
                      <a:endParaRPr sz="1800"/>
                    </a:p>
                  </a:txBody>
                  <a:tcPr marT="45725" marB="45725" marR="91450" marL="9145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graphicFrame>
        <p:nvGraphicFramePr>
          <p:cNvPr id="84" name="Google Shape;84;p13"/>
          <p:cNvGraphicFramePr/>
          <p:nvPr/>
        </p:nvGraphicFramePr>
        <p:xfrm>
          <a:off x="914400" y="487680"/>
          <a:ext cx="3000000" cy="3000000"/>
        </p:xfrm>
        <a:graphic>
          <a:graphicData uri="http://schemas.openxmlformats.org/drawingml/2006/table">
            <a:tbl>
              <a:tblPr bandRow="1" firstRow="1">
                <a:noFill/>
                <a:tableStyleId>{E1282732-8A78-4639-991E-F2C1EF63912C}</a:tableStyleId>
              </a:tblPr>
              <a:tblGrid>
                <a:gridCol w="2072650"/>
                <a:gridCol w="2072650"/>
                <a:gridCol w="2072650"/>
                <a:gridCol w="2072650"/>
                <a:gridCol w="2072650"/>
              </a:tblGrid>
              <a:tr h="2482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4323750">
                <a:tc>
                  <a:txBody>
                    <a:bodyPr/>
                    <a:lstStyle/>
                    <a:p>
                      <a:pPr indent="0" lvl="0" marL="0" marR="0" rtl="0" algn="l">
                        <a:spcBef>
                          <a:spcPts val="0"/>
                        </a:spcBef>
                        <a:spcAft>
                          <a:spcPts val="0"/>
                        </a:spcAft>
                        <a:buNone/>
                      </a:pPr>
                      <a:r>
                        <a:rPr b="1" lang="en-IN" sz="1800">
                          <a:solidFill>
                            <a:schemeClr val="dk1"/>
                          </a:solidFill>
                        </a:rPr>
                        <a:t>Flood Detection using Sensor Network and Notification via SMS and Public Network</a:t>
                      </a:r>
                      <a:endParaRPr sz="1800"/>
                    </a:p>
                  </a:txBody>
                  <a:tcPr marT="45725" marB="45725" marR="91450" marL="91450"/>
                </a:tc>
                <a:tc>
                  <a:txBody>
                    <a:bodyPr/>
                    <a:lstStyle/>
                    <a:p>
                      <a:pPr indent="0" lvl="0" marL="0" marR="0" rtl="0" algn="l">
                        <a:spcBef>
                          <a:spcPts val="0"/>
                        </a:spcBef>
                        <a:spcAft>
                          <a:spcPts val="0"/>
                        </a:spcAft>
                        <a:buNone/>
                      </a:pPr>
                      <a:r>
                        <a:rPr lang="en-IN" sz="1600">
                          <a:solidFill>
                            <a:schemeClr val="dk1"/>
                          </a:solidFill>
                        </a:rPr>
                        <a:t>Azizah suliman.2011</a:t>
                      </a:r>
                      <a:endParaRPr sz="1600"/>
                    </a:p>
                  </a:txBody>
                  <a:tcPr marT="45725" marB="45725" marR="91450" marL="91450"/>
                </a:tc>
                <a:tc>
                  <a:txBody>
                    <a:bodyPr/>
                    <a:lstStyle/>
                    <a:p>
                      <a:pPr indent="0" lvl="0" marL="0" marR="0" rtl="0" algn="l">
                        <a:spcBef>
                          <a:spcPts val="0"/>
                        </a:spcBef>
                        <a:spcAft>
                          <a:spcPts val="0"/>
                        </a:spcAft>
                        <a:buNone/>
                      </a:pPr>
                      <a:r>
                        <a:rPr lang="en-IN" sz="1600">
                          <a:solidFill>
                            <a:schemeClr val="dk1"/>
                          </a:solidFill>
                        </a:rPr>
                        <a:t>This paper focused on the development of the system which will determine the current water level by means of sensors and by using wireless sensor network will then provide notification via GSM modem. </a:t>
                      </a:r>
                      <a:endParaRPr/>
                    </a:p>
                    <a:p>
                      <a:pPr indent="0" lvl="0" marL="0" marR="0" rtl="0" algn="l">
                        <a:spcBef>
                          <a:spcPts val="0"/>
                        </a:spcBef>
                        <a:spcAft>
                          <a:spcPts val="0"/>
                        </a:spcAft>
                        <a:buNone/>
                      </a:pPr>
                      <a:r>
                        <a:t/>
                      </a:r>
                      <a:endParaRPr sz="1400">
                        <a:solidFill>
                          <a:schemeClr val="dk1"/>
                        </a:solidFill>
                      </a:endParaRPr>
                    </a:p>
                    <a:p>
                      <a:pPr indent="0" lvl="0" marL="0" marR="0" rtl="0" algn="l">
                        <a:spcBef>
                          <a:spcPts val="0"/>
                        </a:spcBef>
                        <a:spcAft>
                          <a:spcPts val="0"/>
                        </a:spcAft>
                        <a:buNone/>
                      </a:pPr>
                      <a:r>
                        <a:t/>
                      </a:r>
                      <a:endParaRPr sz="1400">
                        <a:solidFill>
                          <a:schemeClr val="dk1"/>
                        </a:solidFill>
                      </a:endParaRPr>
                    </a:p>
                    <a:p>
                      <a:pPr indent="0" lvl="0" marL="0" marR="0" rtl="0" algn="l">
                        <a:spcBef>
                          <a:spcPts val="0"/>
                        </a:spcBef>
                        <a:spcAft>
                          <a:spcPts val="0"/>
                        </a:spcAft>
                        <a:buNone/>
                      </a:pPr>
                      <a:r>
                        <a:t/>
                      </a:r>
                      <a:endParaRPr sz="1400">
                        <a:solidFill>
                          <a:schemeClr val="dk1"/>
                        </a:solidFill>
                      </a:endParaRPr>
                    </a:p>
                    <a:p>
                      <a:pPr indent="0" lvl="0" marL="0" marR="0" rtl="0" algn="l">
                        <a:spcBef>
                          <a:spcPts val="0"/>
                        </a:spcBef>
                        <a:spcAft>
                          <a:spcPts val="0"/>
                        </a:spcAft>
                        <a:buNone/>
                      </a:pPr>
                      <a:r>
                        <a:t/>
                      </a:r>
                      <a:endParaRPr sz="1400">
                        <a:solidFill>
                          <a:schemeClr val="dk1"/>
                        </a:solidFill>
                      </a:endParaRPr>
                    </a:p>
                    <a:p>
                      <a:pPr indent="0" lvl="0" marL="0" marR="0" rtl="0" algn="l">
                        <a:spcBef>
                          <a:spcPts val="0"/>
                        </a:spcBef>
                        <a:spcAft>
                          <a:spcPts val="0"/>
                        </a:spcAft>
                        <a:buNone/>
                      </a:pPr>
                      <a:r>
                        <a:t/>
                      </a:r>
                      <a:endParaRPr sz="1400">
                        <a:solidFill>
                          <a:schemeClr val="dk1"/>
                        </a:solidFill>
                      </a:endParaRPr>
                    </a:p>
                    <a:p>
                      <a:pPr indent="0" lvl="0" marL="0" marR="0" rtl="0" algn="l">
                        <a:spcBef>
                          <a:spcPts val="0"/>
                        </a:spcBef>
                        <a:spcAft>
                          <a:spcPts val="0"/>
                        </a:spcAft>
                        <a:buNone/>
                      </a:pPr>
                      <a:r>
                        <a:t/>
                      </a:r>
                      <a:endParaRPr sz="1400">
                        <a:solidFill>
                          <a:schemeClr val="dk1"/>
                        </a:solidFill>
                      </a:endParaRPr>
                    </a:p>
                    <a:p>
                      <a:pPr indent="0" lvl="0" marL="0" marR="0" rtl="0" algn="l">
                        <a:spcBef>
                          <a:spcPts val="0"/>
                        </a:spcBef>
                        <a:spcAft>
                          <a:spcPts val="0"/>
                        </a:spcAft>
                        <a:buNone/>
                      </a:pPr>
                      <a:r>
                        <a:t/>
                      </a:r>
                      <a:endParaRPr sz="1400">
                        <a:solidFill>
                          <a:schemeClr val="dk1"/>
                        </a:solidFill>
                      </a:endParaRPr>
                    </a:p>
                    <a:p>
                      <a:pPr indent="0" lvl="0" marL="0" marR="0" rtl="0" algn="l">
                        <a:spcBef>
                          <a:spcPts val="0"/>
                        </a:spcBef>
                        <a:spcAft>
                          <a:spcPts val="0"/>
                        </a:spcAft>
                        <a:buNone/>
                      </a:pPr>
                      <a:r>
                        <a:t/>
                      </a:r>
                      <a:endParaRPr sz="1400">
                        <a:solidFill>
                          <a:schemeClr val="dk1"/>
                        </a:solidFill>
                      </a:endParaRPr>
                    </a:p>
                    <a:p>
                      <a:pPr indent="0" lvl="0" marL="0" marR="0" rtl="0" algn="l">
                        <a:spcBef>
                          <a:spcPts val="0"/>
                        </a:spcBef>
                        <a:spcAft>
                          <a:spcPts val="0"/>
                        </a:spcAft>
                        <a:buNone/>
                      </a:pPr>
                      <a:r>
                        <a:t/>
                      </a:r>
                      <a:endParaRPr sz="1400">
                        <a:solidFill>
                          <a:schemeClr val="dk1"/>
                        </a:solidFill>
                      </a:endParaRPr>
                    </a:p>
                    <a:p>
                      <a:pPr indent="0" lvl="0" marL="0" marR="0" rtl="0" algn="l">
                        <a:spcBef>
                          <a:spcPts val="0"/>
                        </a:spcBef>
                        <a:spcAft>
                          <a:spcPts val="0"/>
                        </a:spcAft>
                        <a:buNone/>
                      </a:pPr>
                      <a:r>
                        <a:t/>
                      </a:r>
                      <a:endParaRPr sz="1400">
                        <a:solidFill>
                          <a:schemeClr val="dk1"/>
                        </a:solidFill>
                      </a:endParaRPr>
                    </a:p>
                    <a:p>
                      <a:pPr indent="0" lvl="0" marL="0" marR="0" rtl="0" algn="l">
                        <a:spcBef>
                          <a:spcPts val="0"/>
                        </a:spcBef>
                        <a:spcAft>
                          <a:spcPts val="0"/>
                        </a:spcAft>
                        <a:buNone/>
                      </a:pPr>
                      <a:r>
                        <a:t/>
                      </a:r>
                      <a:endParaRPr sz="1400">
                        <a:solidFill>
                          <a:schemeClr val="dk1"/>
                        </a:solidFill>
                      </a:endParaRPr>
                    </a:p>
                    <a:p>
                      <a:pPr indent="0" lvl="0" marL="0" marR="0" rtl="0" algn="l">
                        <a:spcBef>
                          <a:spcPts val="0"/>
                        </a:spcBef>
                        <a:spcAft>
                          <a:spcPts val="0"/>
                        </a:spcAft>
                        <a:buNone/>
                      </a:pPr>
                      <a:r>
                        <a:t/>
                      </a:r>
                      <a:endParaRPr sz="1400">
                        <a:solidFill>
                          <a:schemeClr val="dk1"/>
                        </a:solidFill>
                      </a:endParaRPr>
                    </a:p>
                    <a:p>
                      <a:pPr indent="0" lvl="0" marL="0" marR="0" rtl="0" algn="l">
                        <a:spcBef>
                          <a:spcPts val="0"/>
                        </a:spcBef>
                        <a:spcAft>
                          <a:spcPts val="0"/>
                        </a:spcAft>
                        <a:buNone/>
                      </a:pPr>
                      <a:r>
                        <a:t/>
                      </a:r>
                      <a:endParaRPr sz="1400">
                        <a:solidFill>
                          <a:schemeClr val="dk1"/>
                        </a:solidFill>
                      </a:endParaRPr>
                    </a:p>
                    <a:p>
                      <a:pPr indent="0" lvl="0" marL="0" marR="0" rtl="0" algn="l">
                        <a:spcBef>
                          <a:spcPts val="0"/>
                        </a:spcBef>
                        <a:spcAft>
                          <a:spcPts val="0"/>
                        </a:spcAft>
                        <a:buNone/>
                      </a:pPr>
                      <a:r>
                        <a:t/>
                      </a:r>
                      <a:endParaRPr sz="1400"/>
                    </a:p>
                  </a:txBody>
                  <a:tcPr marT="45725" marB="45725" marR="91450" marL="91450"/>
                </a:tc>
                <a:tc>
                  <a:txBody>
                    <a:bodyPr/>
                    <a:lstStyle/>
                    <a:p>
                      <a:pPr indent="0" lvl="0" marL="0" marR="0" rtl="0" algn="l">
                        <a:spcBef>
                          <a:spcPts val="0"/>
                        </a:spcBef>
                        <a:spcAft>
                          <a:spcPts val="0"/>
                        </a:spcAft>
                        <a:buNone/>
                      </a:pPr>
                      <a:r>
                        <a:rPr lang="en-IN" sz="1400">
                          <a:solidFill>
                            <a:schemeClr val="dk1"/>
                          </a:solidFill>
                        </a:rPr>
                        <a:t>Water level sensor  PIC16F877A  Radio frequency  Global system communication mobile(GSM) </a:t>
                      </a:r>
                      <a:endParaRPr sz="1400"/>
                    </a:p>
                  </a:txBody>
                  <a:tcPr marT="45725" marB="45725" marR="91450" marL="91450"/>
                </a:tc>
                <a:tc>
                  <a:txBody>
                    <a:bodyPr/>
                    <a:lstStyle/>
                    <a:p>
                      <a:pPr indent="0" lvl="0" marL="0" marR="0" rtl="0" algn="l">
                        <a:spcBef>
                          <a:spcPts val="0"/>
                        </a:spcBef>
                        <a:spcAft>
                          <a:spcPts val="0"/>
                        </a:spcAft>
                        <a:buNone/>
                      </a:pPr>
                      <a:r>
                        <a:rPr lang="en-IN" sz="1400">
                          <a:solidFill>
                            <a:schemeClr val="dk1"/>
                          </a:solidFill>
                        </a:rPr>
                        <a:t>The most challenge in the SMS channel when the local people don’t use mobile service. The language problem to the foreign people is also one of the major issue.</a:t>
                      </a:r>
                      <a:endParaRPr sz="1400"/>
                    </a:p>
                  </a:txBody>
                  <a:tcPr marT="45725" marB="45725" marR="91450" marL="9145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4"/>
          <p:cNvSpPr txBox="1"/>
          <p:nvPr/>
        </p:nvSpPr>
        <p:spPr>
          <a:xfrm>
            <a:off x="1621282" y="1674063"/>
            <a:ext cx="2831465" cy="51435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IN" sz="3200">
                <a:solidFill>
                  <a:srgbClr val="233641"/>
                </a:solidFill>
                <a:latin typeface="Georgia"/>
                <a:ea typeface="Georgia"/>
                <a:cs typeface="Georgia"/>
                <a:sym typeface="Georgia"/>
              </a:rPr>
              <a:t>FLOW CHART:</a:t>
            </a:r>
            <a:endParaRPr sz="3200">
              <a:solidFill>
                <a:schemeClr val="dk1"/>
              </a:solidFill>
              <a:latin typeface="Georgia"/>
              <a:ea typeface="Georgia"/>
              <a:cs typeface="Georgia"/>
              <a:sym typeface="Georgia"/>
            </a:endParaRPr>
          </a:p>
        </p:txBody>
      </p:sp>
      <p:sp>
        <p:nvSpPr>
          <p:cNvPr id="90" name="Google Shape;90;p14"/>
          <p:cNvSpPr txBox="1"/>
          <p:nvPr/>
        </p:nvSpPr>
        <p:spPr>
          <a:xfrm>
            <a:off x="1402841" y="2871087"/>
            <a:ext cx="3249295" cy="1434465"/>
          </a:xfrm>
          <a:prstGeom prst="rect">
            <a:avLst/>
          </a:prstGeom>
          <a:noFill/>
          <a:ln>
            <a:noFill/>
          </a:ln>
        </p:spPr>
        <p:txBody>
          <a:bodyPr anchorCtr="0" anchor="t" bIns="0" lIns="0" spcFirstLastPara="1" rIns="0" wrap="square" tIns="13325">
            <a:spAutoFit/>
          </a:bodyPr>
          <a:lstStyle/>
          <a:p>
            <a:pPr indent="1269" lvl="0" marL="12065" marR="5080" rtl="0" algn="ctr">
              <a:lnSpc>
                <a:spcPct val="110000"/>
              </a:lnSpc>
              <a:spcBef>
                <a:spcPts val="0"/>
              </a:spcBef>
              <a:spcAft>
                <a:spcPts val="0"/>
              </a:spcAft>
              <a:buNone/>
            </a:pPr>
            <a:r>
              <a:rPr lang="en-IN" sz="2800">
                <a:solidFill>
                  <a:srgbClr val="233641"/>
                </a:solidFill>
                <a:latin typeface="Georgia"/>
                <a:ea typeface="Georgia"/>
                <a:cs typeface="Georgia"/>
                <a:sym typeface="Georgia"/>
              </a:rPr>
              <a:t>This flow chart depicts  the working of flow of  the project</a:t>
            </a:r>
            <a:endParaRPr sz="2800">
              <a:solidFill>
                <a:schemeClr val="dk1"/>
              </a:solidFill>
              <a:latin typeface="Georgia"/>
              <a:ea typeface="Georgia"/>
              <a:cs typeface="Georgia"/>
              <a:sym typeface="Georgia"/>
            </a:endParaRPr>
          </a:p>
        </p:txBody>
      </p:sp>
      <p:pic>
        <p:nvPicPr>
          <p:cNvPr id="91" name="Google Shape;91;p14"/>
          <p:cNvPicPr preferRelativeResize="0"/>
          <p:nvPr/>
        </p:nvPicPr>
        <p:blipFill rotWithShape="1">
          <a:blip r:embed="rId3">
            <a:alphaModFix/>
          </a:blip>
          <a:srcRect b="0" l="0" r="0" t="0"/>
          <a:stretch/>
        </p:blipFill>
        <p:spPr>
          <a:xfrm>
            <a:off x="5582009" y="723900"/>
            <a:ext cx="6372246" cy="5494020"/>
          </a:xfrm>
          <a:prstGeom prst="rect">
            <a:avLst/>
          </a:prstGeom>
          <a:noFill/>
          <a:ln>
            <a:noFill/>
          </a:ln>
        </p:spPr>
      </p:pic>
      <p:grpSp>
        <p:nvGrpSpPr>
          <p:cNvPr id="92" name="Google Shape;92;p14"/>
          <p:cNvGrpSpPr/>
          <p:nvPr/>
        </p:nvGrpSpPr>
        <p:grpSpPr>
          <a:xfrm>
            <a:off x="2580132" y="2519807"/>
            <a:ext cx="867410" cy="163195"/>
            <a:chOff x="2580132" y="2519807"/>
            <a:chExt cx="867410" cy="163195"/>
          </a:xfrm>
        </p:grpSpPr>
        <p:sp>
          <p:nvSpPr>
            <p:cNvPr id="93" name="Google Shape;93;p14"/>
            <p:cNvSpPr/>
            <p:nvPr/>
          </p:nvSpPr>
          <p:spPr>
            <a:xfrm>
              <a:off x="2932557" y="2519807"/>
              <a:ext cx="163830" cy="163195"/>
            </a:xfrm>
            <a:custGeom>
              <a:rect b="b" l="l" r="r" t="t"/>
              <a:pathLst>
                <a:path extrusionOk="0" h="163194" w="163830">
                  <a:moveTo>
                    <a:pt x="83185" y="0"/>
                  </a:moveTo>
                  <a:lnTo>
                    <a:pt x="0" y="80009"/>
                  </a:lnTo>
                  <a:lnTo>
                    <a:pt x="80137" y="163194"/>
                  </a:lnTo>
                  <a:lnTo>
                    <a:pt x="163322" y="83057"/>
                  </a:lnTo>
                  <a:lnTo>
                    <a:pt x="83185" y="0"/>
                  </a:lnTo>
                  <a:close/>
                </a:path>
              </a:pathLst>
            </a:custGeom>
            <a:noFill/>
            <a:ln cap="flat" cmpd="sng" w="15875">
              <a:solidFill>
                <a:srgbClr val="23364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14"/>
            <p:cNvSpPr/>
            <p:nvPr/>
          </p:nvSpPr>
          <p:spPr>
            <a:xfrm>
              <a:off x="2580132" y="2601468"/>
              <a:ext cx="867410" cy="0"/>
            </a:xfrm>
            <a:custGeom>
              <a:rect b="b" l="l" r="r" t="t"/>
              <a:pathLst>
                <a:path extrusionOk="0" h="120000" w="867410">
                  <a:moveTo>
                    <a:pt x="515112" y="0"/>
                  </a:moveTo>
                  <a:lnTo>
                    <a:pt x="867282" y="0"/>
                  </a:lnTo>
                </a:path>
                <a:path extrusionOk="0" h="120000" w="867410">
                  <a:moveTo>
                    <a:pt x="0" y="0"/>
                  </a:moveTo>
                  <a:lnTo>
                    <a:pt x="352170" y="0"/>
                  </a:lnTo>
                </a:path>
              </a:pathLst>
            </a:custGeom>
            <a:noFill/>
            <a:ln cap="flat" cmpd="sng" w="15875">
              <a:solidFill>
                <a:srgbClr val="23364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8" name="Shape 98"/>
        <p:cNvGrpSpPr/>
        <p:nvPr/>
      </p:nvGrpSpPr>
      <p:grpSpPr>
        <a:xfrm>
          <a:off x="0" y="0"/>
          <a:ext cx="0" cy="0"/>
          <a:chOff x="0" y="0"/>
          <a:chExt cx="0" cy="0"/>
        </a:xfrm>
      </p:grpSpPr>
      <p:grpSp>
        <p:nvGrpSpPr>
          <p:cNvPr id="99" name="Google Shape;99;p15"/>
          <p:cNvGrpSpPr/>
          <p:nvPr/>
        </p:nvGrpSpPr>
        <p:grpSpPr>
          <a:xfrm>
            <a:off x="723900" y="749808"/>
            <a:ext cx="4581525" cy="5495925"/>
            <a:chOff x="723900" y="749808"/>
            <a:chExt cx="4581525" cy="5495925"/>
          </a:xfrm>
        </p:grpSpPr>
        <p:sp>
          <p:nvSpPr>
            <p:cNvPr id="100" name="Google Shape;100;p15"/>
            <p:cNvSpPr/>
            <p:nvPr/>
          </p:nvSpPr>
          <p:spPr>
            <a:xfrm>
              <a:off x="723900" y="749808"/>
              <a:ext cx="4581525" cy="5495925"/>
            </a:xfrm>
            <a:custGeom>
              <a:rect b="b" l="l" r="r" t="t"/>
              <a:pathLst>
                <a:path extrusionOk="0" h="5495925" w="4581525">
                  <a:moveTo>
                    <a:pt x="4581144" y="0"/>
                  </a:moveTo>
                  <a:lnTo>
                    <a:pt x="0" y="0"/>
                  </a:lnTo>
                  <a:lnTo>
                    <a:pt x="0" y="5495544"/>
                  </a:lnTo>
                  <a:lnTo>
                    <a:pt x="2282444" y="4719193"/>
                  </a:lnTo>
                  <a:lnTo>
                    <a:pt x="4581144" y="5495544"/>
                  </a:lnTo>
                  <a:lnTo>
                    <a:pt x="4581144" y="0"/>
                  </a:lnTo>
                  <a:close/>
                </a:path>
              </a:pathLst>
            </a:custGeom>
            <a:solidFill>
              <a:srgbClr val="E8E3E1">
                <a:alpha val="80784"/>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15"/>
            <p:cNvSpPr/>
            <p:nvPr/>
          </p:nvSpPr>
          <p:spPr>
            <a:xfrm>
              <a:off x="2932557" y="4690872"/>
              <a:ext cx="163830" cy="163195"/>
            </a:xfrm>
            <a:custGeom>
              <a:rect b="b" l="l" r="r" t="t"/>
              <a:pathLst>
                <a:path extrusionOk="0" h="163195" w="163830">
                  <a:moveTo>
                    <a:pt x="83185" y="0"/>
                  </a:moveTo>
                  <a:lnTo>
                    <a:pt x="0" y="80009"/>
                  </a:lnTo>
                  <a:lnTo>
                    <a:pt x="80137" y="163194"/>
                  </a:lnTo>
                  <a:lnTo>
                    <a:pt x="163322" y="83057"/>
                  </a:lnTo>
                  <a:lnTo>
                    <a:pt x="83185" y="0"/>
                  </a:lnTo>
                  <a:close/>
                </a:path>
              </a:pathLst>
            </a:custGeom>
            <a:noFill/>
            <a:ln cap="flat" cmpd="sng" w="15875">
              <a:solidFill>
                <a:srgbClr val="23364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15"/>
            <p:cNvSpPr/>
            <p:nvPr/>
          </p:nvSpPr>
          <p:spPr>
            <a:xfrm>
              <a:off x="2580132" y="4773167"/>
              <a:ext cx="867410" cy="0"/>
            </a:xfrm>
            <a:custGeom>
              <a:rect b="b" l="l" r="r" t="t"/>
              <a:pathLst>
                <a:path extrusionOk="0" h="120000" w="867410">
                  <a:moveTo>
                    <a:pt x="515112" y="0"/>
                  </a:moveTo>
                  <a:lnTo>
                    <a:pt x="867282" y="0"/>
                  </a:lnTo>
                </a:path>
                <a:path extrusionOk="0" h="120000" w="867410">
                  <a:moveTo>
                    <a:pt x="0" y="0"/>
                  </a:moveTo>
                  <a:lnTo>
                    <a:pt x="352170" y="0"/>
                  </a:lnTo>
                </a:path>
              </a:pathLst>
            </a:custGeom>
            <a:noFill/>
            <a:ln cap="flat" cmpd="sng" w="15875">
              <a:solidFill>
                <a:srgbClr val="23364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03" name="Google Shape;103;p15"/>
          <p:cNvSpPr txBox="1"/>
          <p:nvPr>
            <p:ph type="title"/>
          </p:nvPr>
        </p:nvSpPr>
        <p:spPr>
          <a:xfrm>
            <a:off x="1230579" y="1875510"/>
            <a:ext cx="3522345" cy="2171700"/>
          </a:xfrm>
          <a:prstGeom prst="rect">
            <a:avLst/>
          </a:prstGeom>
          <a:noFill/>
          <a:ln>
            <a:noFill/>
          </a:ln>
        </p:spPr>
        <p:txBody>
          <a:bodyPr anchorCtr="0" anchor="t" bIns="0" lIns="0" spcFirstLastPara="1" rIns="0" wrap="square" tIns="12700">
            <a:spAutoFit/>
          </a:bodyPr>
          <a:lstStyle/>
          <a:p>
            <a:pPr indent="0" lvl="0" marL="289560" marR="281305" rtl="0" algn="ctr">
              <a:lnSpc>
                <a:spcPct val="110000"/>
              </a:lnSpc>
              <a:spcBef>
                <a:spcPts val="0"/>
              </a:spcBef>
              <a:spcAft>
                <a:spcPts val="0"/>
              </a:spcAft>
              <a:buNone/>
            </a:pPr>
            <a:r>
              <a:rPr lang="en-IN">
                <a:solidFill>
                  <a:srgbClr val="233641"/>
                </a:solidFill>
              </a:rPr>
              <a:t>H A R DWA R E  S E T U P	A N D</a:t>
            </a:r>
            <a:endParaRPr/>
          </a:p>
          <a:p>
            <a:pPr indent="634" lvl="0" marL="12700" marR="5080" rtl="0" algn="ctr">
              <a:lnSpc>
                <a:spcPct val="132187"/>
              </a:lnSpc>
              <a:spcBef>
                <a:spcPts val="90"/>
              </a:spcBef>
              <a:spcAft>
                <a:spcPts val="0"/>
              </a:spcAft>
              <a:buNone/>
            </a:pPr>
            <a:r>
              <a:rPr lang="en-IN">
                <a:solidFill>
                  <a:srgbClr val="233641"/>
                </a:solidFill>
              </a:rPr>
              <a:t>M O D U L E S	O F  T H E	P RO J E C T</a:t>
            </a:r>
            <a:endParaRPr/>
          </a:p>
        </p:txBody>
      </p:sp>
      <p:pic>
        <p:nvPicPr>
          <p:cNvPr id="104" name="Google Shape;104;p15"/>
          <p:cNvPicPr preferRelativeResize="0"/>
          <p:nvPr/>
        </p:nvPicPr>
        <p:blipFill rotWithShape="1">
          <a:blip r:embed="rId3">
            <a:alphaModFix/>
          </a:blip>
          <a:srcRect b="0" l="0" r="0" t="0"/>
          <a:stretch/>
        </p:blipFill>
        <p:spPr>
          <a:xfrm>
            <a:off x="5477255" y="752855"/>
            <a:ext cx="6400800" cy="549554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1145844" y="1009243"/>
            <a:ext cx="3492500" cy="3422015"/>
          </a:xfrm>
          <a:prstGeom prst="rect">
            <a:avLst/>
          </a:prstGeom>
          <a:noFill/>
          <a:ln>
            <a:noFill/>
          </a:ln>
        </p:spPr>
        <p:txBody>
          <a:bodyPr anchorCtr="0" anchor="t" bIns="0" lIns="0" spcFirstLastPara="1" rIns="0" wrap="square" tIns="12700">
            <a:spAutoFit/>
          </a:bodyPr>
          <a:lstStyle/>
          <a:p>
            <a:pPr indent="8890" lvl="0" marL="66040" marR="5080" rtl="0" algn="l">
              <a:lnSpc>
                <a:spcPct val="110000"/>
              </a:lnSpc>
              <a:spcBef>
                <a:spcPts val="0"/>
              </a:spcBef>
              <a:spcAft>
                <a:spcPts val="0"/>
              </a:spcAft>
              <a:buNone/>
            </a:pPr>
            <a:r>
              <a:rPr lang="en-IN" sz="2900"/>
              <a:t>MODULE-1:WATER  LEVEL DETECTION</a:t>
            </a:r>
            <a:endParaRPr sz="2900"/>
          </a:p>
          <a:p>
            <a:pPr indent="0" lvl="0" marL="12700" marR="64135" rtl="0" algn="l">
              <a:lnSpc>
                <a:spcPct val="110000"/>
              </a:lnSpc>
              <a:spcBef>
                <a:spcPts val="600"/>
              </a:spcBef>
              <a:spcAft>
                <a:spcPts val="0"/>
              </a:spcAft>
              <a:buNone/>
            </a:pPr>
            <a:r>
              <a:rPr lang="en-IN" sz="2000">
                <a:solidFill>
                  <a:srgbClr val="233641"/>
                </a:solidFill>
              </a:rPr>
              <a:t>This module concentrates on  detecting the water level with the  help of ultrasonic sensor (HC-  SR04). It calculates distance using  SONAR. Gives the information  of the rise in water level above  threshold.</a:t>
            </a:r>
            <a:endParaRPr sz="2000"/>
          </a:p>
        </p:txBody>
      </p:sp>
      <p:pic>
        <p:nvPicPr>
          <p:cNvPr id="110" name="Google Shape;110;p16"/>
          <p:cNvPicPr preferRelativeResize="0"/>
          <p:nvPr/>
        </p:nvPicPr>
        <p:blipFill rotWithShape="1">
          <a:blip r:embed="rId3">
            <a:alphaModFix/>
          </a:blip>
          <a:srcRect b="0" l="0" r="0" t="0"/>
          <a:stretch/>
        </p:blipFill>
        <p:spPr>
          <a:xfrm>
            <a:off x="5568258" y="1176770"/>
            <a:ext cx="5281845" cy="456377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7"/>
          <p:cNvSpPr txBox="1"/>
          <p:nvPr>
            <p:ph type="title"/>
          </p:nvPr>
        </p:nvSpPr>
        <p:spPr>
          <a:xfrm>
            <a:off x="1145844" y="777239"/>
            <a:ext cx="3547745" cy="2983230"/>
          </a:xfrm>
          <a:prstGeom prst="rect">
            <a:avLst/>
          </a:prstGeom>
          <a:noFill/>
          <a:ln>
            <a:noFill/>
          </a:ln>
        </p:spPr>
        <p:txBody>
          <a:bodyPr anchorCtr="0" anchor="t" bIns="0" lIns="0" spcFirstLastPara="1" rIns="0" wrap="square" tIns="12700">
            <a:spAutoFit/>
          </a:bodyPr>
          <a:lstStyle/>
          <a:p>
            <a:pPr indent="0" lvl="0" marL="12700" marR="106045" rtl="0" algn="l">
              <a:lnSpc>
                <a:spcPct val="110100"/>
              </a:lnSpc>
              <a:spcBef>
                <a:spcPts val="0"/>
              </a:spcBef>
              <a:spcAft>
                <a:spcPts val="0"/>
              </a:spcAft>
              <a:buNone/>
            </a:pPr>
            <a:r>
              <a:rPr lang="en-IN" sz="2400"/>
              <a:t>MODULE-2:  INDICATOR MODULE -  LED</a:t>
            </a:r>
            <a:endParaRPr sz="2400"/>
          </a:p>
          <a:p>
            <a:pPr indent="0" lvl="0" marL="12700" marR="5080" rtl="0" algn="l">
              <a:lnSpc>
                <a:spcPct val="110000"/>
              </a:lnSpc>
              <a:spcBef>
                <a:spcPts val="575"/>
              </a:spcBef>
              <a:spcAft>
                <a:spcPts val="0"/>
              </a:spcAft>
              <a:buNone/>
            </a:pPr>
            <a:r>
              <a:rPr lang="en-IN" sz="2000">
                <a:solidFill>
                  <a:srgbClr val="233641"/>
                </a:solidFill>
              </a:rPr>
              <a:t>This module intimates the danger  in the form of light signals (LED)  whenever the reading goes over  the threshold value.The LED turns  high that indicates the danger.</a:t>
            </a:r>
            <a:endParaRPr sz="2000"/>
          </a:p>
        </p:txBody>
      </p:sp>
      <p:pic>
        <p:nvPicPr>
          <p:cNvPr id="116" name="Google Shape;116;p17"/>
          <p:cNvPicPr preferRelativeResize="0"/>
          <p:nvPr/>
        </p:nvPicPr>
        <p:blipFill rotWithShape="1">
          <a:blip r:embed="rId3">
            <a:alphaModFix/>
          </a:blip>
          <a:srcRect b="0" l="0" r="0" t="0"/>
          <a:stretch/>
        </p:blipFill>
        <p:spPr>
          <a:xfrm>
            <a:off x="8501161" y="1598797"/>
            <a:ext cx="714273" cy="226972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type="title"/>
          </p:nvPr>
        </p:nvSpPr>
        <p:spPr>
          <a:xfrm>
            <a:off x="1145844" y="1180338"/>
            <a:ext cx="2902585" cy="830580"/>
          </a:xfrm>
          <a:prstGeom prst="rect">
            <a:avLst/>
          </a:prstGeom>
          <a:noFill/>
          <a:ln>
            <a:noFill/>
          </a:ln>
        </p:spPr>
        <p:txBody>
          <a:bodyPr anchorCtr="0" anchor="t" bIns="0" lIns="0" spcFirstLastPara="1" rIns="0" wrap="square" tIns="12700">
            <a:spAutoFit/>
          </a:bodyPr>
          <a:lstStyle/>
          <a:p>
            <a:pPr indent="0" lvl="0" marL="12700" marR="5080" rtl="0" algn="l">
              <a:lnSpc>
                <a:spcPct val="110000"/>
              </a:lnSpc>
              <a:spcBef>
                <a:spcPts val="0"/>
              </a:spcBef>
              <a:spcAft>
                <a:spcPts val="0"/>
              </a:spcAft>
              <a:buNone/>
            </a:pPr>
            <a:r>
              <a:rPr lang="en-IN" sz="2400"/>
              <a:t>MODULE-3: SOUND  ALERT- BUZZER</a:t>
            </a:r>
            <a:endParaRPr sz="2400"/>
          </a:p>
        </p:txBody>
      </p:sp>
      <p:sp>
        <p:nvSpPr>
          <p:cNvPr id="122" name="Google Shape;122;p18"/>
          <p:cNvSpPr txBox="1"/>
          <p:nvPr/>
        </p:nvSpPr>
        <p:spPr>
          <a:xfrm>
            <a:off x="1145844" y="2058136"/>
            <a:ext cx="3486150" cy="2499360"/>
          </a:xfrm>
          <a:prstGeom prst="rect">
            <a:avLst/>
          </a:prstGeom>
          <a:noFill/>
          <a:ln>
            <a:noFill/>
          </a:ln>
        </p:spPr>
        <p:txBody>
          <a:bodyPr anchorCtr="0" anchor="t" bIns="0" lIns="0" spcFirstLastPara="1" rIns="0" wrap="square" tIns="12700">
            <a:spAutoFit/>
          </a:bodyPr>
          <a:lstStyle/>
          <a:p>
            <a:pPr indent="0" lvl="0" marL="12700" marR="5080" rtl="0" algn="l">
              <a:lnSpc>
                <a:spcPct val="110000"/>
              </a:lnSpc>
              <a:spcBef>
                <a:spcPts val="0"/>
              </a:spcBef>
              <a:spcAft>
                <a:spcPts val="0"/>
              </a:spcAft>
              <a:buNone/>
            </a:pPr>
            <a:r>
              <a:rPr lang="en-IN" sz="2000">
                <a:solidFill>
                  <a:srgbClr val="233641"/>
                </a:solidFill>
                <a:latin typeface="Georgia"/>
                <a:ea typeface="Georgia"/>
                <a:cs typeface="Georgia"/>
                <a:sym typeface="Georgia"/>
              </a:rPr>
              <a:t>This module alerts the users in the  form of sound.This happens  whenever the reading goes above  the specified threshold.</a:t>
            </a:r>
            <a:endParaRPr sz="2000">
              <a:solidFill>
                <a:schemeClr val="dk1"/>
              </a:solidFill>
              <a:latin typeface="Georgia"/>
              <a:ea typeface="Georgia"/>
              <a:cs typeface="Georgia"/>
              <a:sym typeface="Georgia"/>
            </a:endParaRPr>
          </a:p>
          <a:p>
            <a:pPr indent="0" lvl="0" marL="12700" marR="303530" rtl="0" algn="just">
              <a:lnSpc>
                <a:spcPct val="110000"/>
              </a:lnSpc>
              <a:spcBef>
                <a:spcPts val="994"/>
              </a:spcBef>
              <a:spcAft>
                <a:spcPts val="0"/>
              </a:spcAft>
              <a:buNone/>
            </a:pPr>
            <a:r>
              <a:rPr lang="en-IN" sz="2000">
                <a:solidFill>
                  <a:srgbClr val="233641"/>
                </a:solidFill>
                <a:latin typeface="Georgia"/>
                <a:ea typeface="Georgia"/>
                <a:cs typeface="Georgia"/>
                <a:sym typeface="Georgia"/>
              </a:rPr>
              <a:t>The buzzer beeps continuously  whenever the object crosses the  specified threshold.</a:t>
            </a:r>
            <a:endParaRPr sz="2000">
              <a:solidFill>
                <a:schemeClr val="dk1"/>
              </a:solidFill>
              <a:latin typeface="Georgia"/>
              <a:ea typeface="Georgia"/>
              <a:cs typeface="Georgia"/>
              <a:sym typeface="Georgia"/>
            </a:endParaRPr>
          </a:p>
        </p:txBody>
      </p:sp>
      <p:pic>
        <p:nvPicPr>
          <p:cNvPr id="123" name="Google Shape;123;p18"/>
          <p:cNvPicPr preferRelativeResize="0"/>
          <p:nvPr/>
        </p:nvPicPr>
        <p:blipFill rotWithShape="1">
          <a:blip r:embed="rId3">
            <a:alphaModFix/>
          </a:blip>
          <a:srcRect b="0" l="0" r="0" t="0"/>
          <a:stretch/>
        </p:blipFill>
        <p:spPr>
          <a:xfrm>
            <a:off x="6620256" y="987552"/>
            <a:ext cx="3989832" cy="398830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1145844" y="777239"/>
            <a:ext cx="3100070" cy="1233170"/>
          </a:xfrm>
          <a:prstGeom prst="rect">
            <a:avLst/>
          </a:prstGeom>
          <a:noFill/>
          <a:ln>
            <a:noFill/>
          </a:ln>
        </p:spPr>
        <p:txBody>
          <a:bodyPr anchorCtr="0" anchor="t" bIns="0" lIns="0" spcFirstLastPara="1" rIns="0" wrap="square" tIns="12700">
            <a:spAutoFit/>
          </a:bodyPr>
          <a:lstStyle/>
          <a:p>
            <a:pPr indent="0" lvl="0" marL="12700" marR="5080" rtl="0" algn="l">
              <a:lnSpc>
                <a:spcPct val="110100"/>
              </a:lnSpc>
              <a:spcBef>
                <a:spcPts val="0"/>
              </a:spcBef>
              <a:spcAft>
                <a:spcPts val="0"/>
              </a:spcAft>
              <a:buNone/>
            </a:pPr>
            <a:r>
              <a:rPr lang="en-IN" sz="2400"/>
              <a:t>MODULE-4:  TEMPERATURE AND  HUMIDITY SENSOR</a:t>
            </a:r>
            <a:endParaRPr sz="2400"/>
          </a:p>
        </p:txBody>
      </p:sp>
      <p:sp>
        <p:nvSpPr>
          <p:cNvPr id="129" name="Google Shape;129;p19"/>
          <p:cNvSpPr txBox="1"/>
          <p:nvPr/>
        </p:nvSpPr>
        <p:spPr>
          <a:xfrm>
            <a:off x="1145844" y="2058136"/>
            <a:ext cx="3534410" cy="2499360"/>
          </a:xfrm>
          <a:prstGeom prst="rect">
            <a:avLst/>
          </a:prstGeom>
          <a:noFill/>
          <a:ln>
            <a:noFill/>
          </a:ln>
        </p:spPr>
        <p:txBody>
          <a:bodyPr anchorCtr="0" anchor="t" bIns="0" lIns="0" spcFirstLastPara="1" rIns="0" wrap="square" tIns="12700">
            <a:spAutoFit/>
          </a:bodyPr>
          <a:lstStyle/>
          <a:p>
            <a:pPr indent="0" lvl="0" marL="12700" marR="5080" rtl="0" algn="l">
              <a:lnSpc>
                <a:spcPct val="110000"/>
              </a:lnSpc>
              <a:spcBef>
                <a:spcPts val="0"/>
              </a:spcBef>
              <a:spcAft>
                <a:spcPts val="0"/>
              </a:spcAft>
              <a:buNone/>
            </a:pPr>
            <a:r>
              <a:rPr lang="en-IN" sz="2000">
                <a:solidFill>
                  <a:srgbClr val="233641"/>
                </a:solidFill>
                <a:latin typeface="Georgia"/>
                <a:ea typeface="Georgia"/>
                <a:cs typeface="Georgia"/>
                <a:sym typeface="Georgia"/>
              </a:rPr>
              <a:t>With the help of DHT11 sensor  temperature and humidity readings  are extracted</a:t>
            </a:r>
            <a:endParaRPr sz="2000">
              <a:solidFill>
                <a:schemeClr val="dk1"/>
              </a:solidFill>
              <a:latin typeface="Georgia"/>
              <a:ea typeface="Georgia"/>
              <a:cs typeface="Georgia"/>
              <a:sym typeface="Georgia"/>
            </a:endParaRPr>
          </a:p>
          <a:p>
            <a:pPr indent="0" lvl="0" marL="12700" marR="178435" rtl="0" algn="l">
              <a:lnSpc>
                <a:spcPct val="110000"/>
              </a:lnSpc>
              <a:spcBef>
                <a:spcPts val="994"/>
              </a:spcBef>
              <a:spcAft>
                <a:spcPts val="0"/>
              </a:spcAft>
              <a:buNone/>
            </a:pPr>
            <a:r>
              <a:rPr lang="en-IN" sz="2000">
                <a:solidFill>
                  <a:srgbClr val="233641"/>
                </a:solidFill>
                <a:latin typeface="Georgia"/>
                <a:ea typeface="Georgia"/>
                <a:cs typeface="Georgia"/>
                <a:sym typeface="Georgia"/>
              </a:rPr>
              <a:t>This module correlates  environmental factors such as  temperature and humidity to  predict the flood more accurately</a:t>
            </a:r>
            <a:endParaRPr sz="2000">
              <a:solidFill>
                <a:schemeClr val="dk1"/>
              </a:solidFill>
              <a:latin typeface="Georgia"/>
              <a:ea typeface="Georgia"/>
              <a:cs typeface="Georgia"/>
              <a:sym typeface="Georgia"/>
            </a:endParaRPr>
          </a:p>
        </p:txBody>
      </p:sp>
      <p:pic>
        <p:nvPicPr>
          <p:cNvPr id="130" name="Google Shape;130;p19"/>
          <p:cNvPicPr preferRelativeResize="0"/>
          <p:nvPr/>
        </p:nvPicPr>
        <p:blipFill rotWithShape="1">
          <a:blip r:embed="rId3">
            <a:alphaModFix/>
          </a:blip>
          <a:srcRect b="0" l="0" r="0" t="0"/>
          <a:stretch/>
        </p:blipFill>
        <p:spPr>
          <a:xfrm>
            <a:off x="5569285" y="2579400"/>
            <a:ext cx="5178754" cy="218106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type="title"/>
          </p:nvPr>
        </p:nvSpPr>
        <p:spPr>
          <a:xfrm>
            <a:off x="1145844" y="522299"/>
            <a:ext cx="2628900" cy="1485265"/>
          </a:xfrm>
          <a:prstGeom prst="rect">
            <a:avLst/>
          </a:prstGeom>
          <a:noFill/>
          <a:ln>
            <a:noFill/>
          </a:ln>
        </p:spPr>
        <p:txBody>
          <a:bodyPr anchorCtr="0" anchor="t" bIns="0" lIns="0" spcFirstLastPara="1" rIns="0" wrap="square" tIns="12700">
            <a:spAutoFit/>
          </a:bodyPr>
          <a:lstStyle/>
          <a:p>
            <a:pPr indent="0" lvl="0" marL="12700" marR="5080" rtl="0" algn="l">
              <a:lnSpc>
                <a:spcPct val="110000"/>
              </a:lnSpc>
              <a:spcBef>
                <a:spcPts val="0"/>
              </a:spcBef>
              <a:spcAft>
                <a:spcPts val="0"/>
              </a:spcAft>
              <a:buNone/>
            </a:pPr>
            <a:r>
              <a:rPr lang="en-IN" sz="2900"/>
              <a:t>MODULE-  5:BLUETOOTH  MODULE</a:t>
            </a:r>
            <a:endParaRPr sz="2900"/>
          </a:p>
        </p:txBody>
      </p:sp>
      <p:sp>
        <p:nvSpPr>
          <p:cNvPr id="136" name="Google Shape;136;p20"/>
          <p:cNvSpPr txBox="1"/>
          <p:nvPr/>
        </p:nvSpPr>
        <p:spPr>
          <a:xfrm>
            <a:off x="1145844" y="2078863"/>
            <a:ext cx="3516629" cy="3379470"/>
          </a:xfrm>
          <a:prstGeom prst="rect">
            <a:avLst/>
          </a:prstGeom>
          <a:noFill/>
          <a:ln>
            <a:noFill/>
          </a:ln>
        </p:spPr>
        <p:txBody>
          <a:bodyPr anchorCtr="0" anchor="t" bIns="0" lIns="0" spcFirstLastPara="1" rIns="0" wrap="square" tIns="13325">
            <a:spAutoFit/>
          </a:bodyPr>
          <a:lstStyle/>
          <a:p>
            <a:pPr indent="0" lvl="0" marL="12700" marR="5080" rtl="0" algn="l">
              <a:lnSpc>
                <a:spcPct val="100000"/>
              </a:lnSpc>
              <a:spcBef>
                <a:spcPts val="0"/>
              </a:spcBef>
              <a:spcAft>
                <a:spcPts val="0"/>
              </a:spcAft>
              <a:buNone/>
            </a:pPr>
            <a:r>
              <a:rPr lang="en-IN" sz="2000">
                <a:solidFill>
                  <a:srgbClr val="233641"/>
                </a:solidFill>
                <a:latin typeface="Georgia"/>
                <a:ea typeface="Georgia"/>
                <a:cs typeface="Georgia"/>
                <a:sym typeface="Georgia"/>
              </a:rPr>
              <a:t>Bluetooth module (HC-05) uses  serial communication to  communicate with other  electronic devices such as cell  phones on a base of wireless  connection , so the date collected  with the integration of all sensors  is displayed in readable form on  cell phone so that user understands  the information and can act  accordingly</a:t>
            </a:r>
            <a:endParaRPr sz="2000">
              <a:solidFill>
                <a:schemeClr val="dk1"/>
              </a:solidFill>
              <a:latin typeface="Georgia"/>
              <a:ea typeface="Georgia"/>
              <a:cs typeface="Georgia"/>
              <a:sym typeface="Georgia"/>
            </a:endParaRPr>
          </a:p>
        </p:txBody>
      </p:sp>
      <p:pic>
        <p:nvPicPr>
          <p:cNvPr id="137" name="Google Shape;137;p20"/>
          <p:cNvPicPr preferRelativeResize="0"/>
          <p:nvPr/>
        </p:nvPicPr>
        <p:blipFill rotWithShape="1">
          <a:blip r:embed="rId3">
            <a:alphaModFix/>
          </a:blip>
          <a:srcRect b="0" l="0" r="0" t="0"/>
          <a:stretch/>
        </p:blipFill>
        <p:spPr>
          <a:xfrm>
            <a:off x="5468343" y="1542347"/>
            <a:ext cx="5514246" cy="351905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1"/>
          <p:cNvSpPr txBox="1"/>
          <p:nvPr>
            <p:ph type="title"/>
          </p:nvPr>
        </p:nvSpPr>
        <p:spPr>
          <a:xfrm>
            <a:off x="1107744" y="1447038"/>
            <a:ext cx="3049905" cy="51371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IN"/>
              <a:t>CONCLUSION :</a:t>
            </a:r>
            <a:endParaRPr/>
          </a:p>
        </p:txBody>
      </p:sp>
      <p:sp>
        <p:nvSpPr>
          <p:cNvPr id="143" name="Google Shape;143;p21"/>
          <p:cNvSpPr txBox="1"/>
          <p:nvPr/>
        </p:nvSpPr>
        <p:spPr>
          <a:xfrm>
            <a:off x="1107744" y="2161869"/>
            <a:ext cx="9953625" cy="2499995"/>
          </a:xfrm>
          <a:prstGeom prst="rect">
            <a:avLst/>
          </a:prstGeom>
          <a:noFill/>
          <a:ln>
            <a:noFill/>
          </a:ln>
        </p:spPr>
        <p:txBody>
          <a:bodyPr anchorCtr="0" anchor="t" bIns="0" lIns="0" spcFirstLastPara="1" rIns="0" wrap="square" tIns="12700">
            <a:spAutoFit/>
          </a:bodyPr>
          <a:lstStyle/>
          <a:p>
            <a:pPr indent="0" lvl="0" marL="12700" marR="236220" rtl="0" algn="l">
              <a:lnSpc>
                <a:spcPct val="110000"/>
              </a:lnSpc>
              <a:spcBef>
                <a:spcPts val="0"/>
              </a:spcBef>
              <a:spcAft>
                <a:spcPts val="0"/>
              </a:spcAft>
              <a:buNone/>
            </a:pPr>
            <a:r>
              <a:rPr lang="en-IN" sz="2000">
                <a:solidFill>
                  <a:srgbClr val="233641"/>
                </a:solidFill>
                <a:latin typeface="Georgia"/>
                <a:ea typeface="Georgia"/>
                <a:cs typeface="Georgia"/>
                <a:sym typeface="Georgia"/>
              </a:rPr>
              <a:t>Proposed arrangement used for “Flood Detection And Intimation” has a lot of potential  applications especially in flood prone areas and where the natural calamity like flood has caused  huge losses in the past.This is an intelligent system that closely monitors many natural conditions  to forecast a flood, allowing us to take precautions and limit the damage the flood does.</a:t>
            </a:r>
            <a:endParaRPr sz="2000">
              <a:solidFill>
                <a:schemeClr val="dk1"/>
              </a:solidFill>
              <a:latin typeface="Georgia"/>
              <a:ea typeface="Georgia"/>
              <a:cs typeface="Georgia"/>
              <a:sym typeface="Georgia"/>
            </a:endParaRPr>
          </a:p>
          <a:p>
            <a:pPr indent="0" lvl="0" marL="12700" marR="5080" rtl="0" algn="l">
              <a:lnSpc>
                <a:spcPct val="110000"/>
              </a:lnSpc>
              <a:spcBef>
                <a:spcPts val="1000"/>
              </a:spcBef>
              <a:spcAft>
                <a:spcPts val="0"/>
              </a:spcAft>
              <a:buNone/>
            </a:pPr>
            <a:r>
              <a:rPr lang="en-IN" sz="2000">
                <a:solidFill>
                  <a:srgbClr val="233641"/>
                </a:solidFill>
                <a:latin typeface="Georgia"/>
                <a:ea typeface="Georgia"/>
                <a:cs typeface="Georgia"/>
                <a:sym typeface="Georgia"/>
              </a:rPr>
              <a:t>This system can be implemented on a large scale in near future as it’s a totally different concept and  if it is made to implement properly with the help of the government- it can predict danger and  save thousands, if not lakhs of lives by alerting of danger beforehand.</a:t>
            </a:r>
            <a:endParaRPr sz="2000">
              <a:solidFill>
                <a:schemeClr val="dk1"/>
              </a:solidFill>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